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6D028A-FFE7-5987-B22A-F18C5C229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3C9860C-FCA9-8383-1429-92EBCA07A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380860-1FF4-851A-52C0-0AA8A289D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A73C51-3CFE-D9CA-ADF7-77207EFF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7F8605-187B-78EC-C2EC-19D7BD1E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59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9F7FFE-78D1-EF97-C999-46766D7B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958004-D81E-9FD6-0F9D-FB1748E17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EF61C8-6A3F-9A82-515A-824A9F521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21FE45-0705-28A2-20FE-39228D57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BE749B-B7B7-56BB-026D-B1B2CB0C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646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AE552D-7CA0-2810-F0E6-1778EA6B5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1AD283-FE12-0192-6F7A-39FC20CB3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131377-531C-7D65-130D-0F2EC108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A23D9F-D3D1-A66C-DC34-DFCF1DA0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2398C9-F9FB-9A55-916F-FEE63FF6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44E386-C8DA-818F-6B92-8E3CB829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BB5CF5-7FBE-DC73-67FD-D268C99C9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9D016B-755E-2E19-A566-03DC325E3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610785E-BAE0-043E-C9B6-175E31879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986A9A2-E281-22EC-63A8-076811784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53B612-2B59-4190-6D0E-1AE25828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263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39A222-9314-E983-A419-5B8FB4AC9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8A0AFA-F582-216C-371D-8F8FEC29F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438A7E-97C5-1EAA-0C46-3A0C741D8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C9FC066-042E-1DE3-DA80-DC8B065CB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468ECBE-64AD-070B-1D1F-78FF1A0DD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C6BD69D-CE22-5453-1FE8-453B6FA3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E00E8C3-FBCA-C956-A58A-7FF40B8A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1D830FF-A364-1652-DB76-F77F47E5B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52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3DD0B4-04ED-2EC3-D95C-E9FD600C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86554A5-0D29-8CFA-64DF-E04F6F26E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0209594-865F-926A-AD74-1BF47111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ECFB8C-A473-EE13-ADB0-70B87C02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137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6171EBB-741E-A342-5E93-C9BD96157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5310D-1774-F4D5-E021-2F4B253BC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1077F4-13E8-BF58-05A1-E3ABD0D6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634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A978ED-333E-36C0-052F-C04A418B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983645-E5FC-D784-EE64-1736174BD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517C081-5BC8-75DE-1D21-40602F7B8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C4EC53D-3301-AEBC-69D4-92DCB7A5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97C75B6-4940-B77A-C5B0-81765F9DF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CB8A5D-2D89-38AD-A7D4-732540FFC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9936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0E2F6A-1BE4-ADB9-13CF-2515D544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4BFF852-64CF-9432-0074-681C3BF785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11E78A3-7A51-F064-DB9C-E0A1ED5EE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A37113-6B92-C0FE-F966-12BC7A97C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6718B8-56DD-CFFC-0E35-CCB4FD21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BAC0E3-168E-C96E-D849-67CA44E0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6822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7C477F-1264-4E72-DB69-7E42DB87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A43A5E2-CD63-4958-A125-94A687A43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BCD7DC-B8C2-1BDF-2E86-61869C08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AA0331-CACD-ABB5-B7F0-1864F158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22561A-F00C-0263-00AF-A3EA4BF0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01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F0756FE-6CC4-B4DB-F7F5-A51B52815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52603F-09AE-01B5-816C-905DADFD7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95F264-F797-EFF9-2628-4BD19696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A9B44E-8E2C-6E36-376B-7E3087DE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444385-50EC-EB13-0CC3-5361CB45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18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75AC3CE-4346-1CC7-2A50-08AD76860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0F27D1-FAD7-DBF8-C35D-443415F3A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4D65E5-A2E6-4E96-6A28-E00BC26A3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BCCDE-B349-4CE3-8DBB-F013F9119D84}" type="datetimeFigureOut">
              <a:rPr lang="zh-TW" altLang="en-US" smtClean="0"/>
              <a:t>2026-08-04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87336E-82B6-9092-8404-99549A3A3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AD9803-E324-9A57-1DCE-83D4B22A6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97BC7-F88B-469A-BC15-9D0AB4287E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716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6CE93ED-8C62-49AC-EA6F-99288A240507}"/>
              </a:ext>
            </a:extLst>
          </p:cNvPr>
          <p:cNvSpPr txBox="1"/>
          <p:nvPr/>
        </p:nvSpPr>
        <p:spPr>
          <a:xfrm>
            <a:off x="381000" y="3556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300" b="1">
                <a:solidFill>
                  <a:srgbClr val="3D8DFF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HV28 SRAM ANALYSIS</a:t>
            </a:r>
            <a:endParaRPr lang="zh-TW" altLang="en-US" sz="1300" b="1">
              <a:solidFill>
                <a:srgbClr val="3D8DFF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F63225B-6059-58D0-BB3F-92C78A9F2F58}"/>
              </a:ext>
            </a:extLst>
          </p:cNvPr>
          <p:cNvSpPr txBox="1"/>
          <p:nvPr/>
        </p:nvSpPr>
        <p:spPr>
          <a:xfrm>
            <a:off x="381000" y="12700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38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How WAT Electrical Data Becomes
6T SRAM Stability Metrics</a:t>
            </a:r>
            <a:endParaRPr lang="zh-TW" altLang="en-US" sz="38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8D06854-B56A-5064-2908-D4225C787228}"/>
              </a:ext>
            </a:extLst>
          </p:cNvPr>
          <p:cNvSpPr txBox="1"/>
          <p:nvPr/>
        </p:nvSpPr>
        <p:spPr>
          <a:xfrm>
            <a:off x="381000" y="2984500"/>
            <a:ext cx="939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20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Core equations, device relationships, and final interpretation</a:t>
            </a:r>
            <a:endParaRPr lang="zh-TW" altLang="en-US" sz="20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6461E8-55D1-A6C0-5002-C7A10D9ABB87}"/>
              </a:ext>
            </a:extLst>
          </p:cNvPr>
          <p:cNvSpPr/>
          <p:nvPr/>
        </p:nvSpPr>
        <p:spPr>
          <a:xfrm>
            <a:off x="381000" y="4191000"/>
            <a:ext cx="1841500" cy="11684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24CABDE-ECFD-8F86-E5F1-009DC53199E5}"/>
              </a:ext>
            </a:extLst>
          </p:cNvPr>
          <p:cNvSpPr txBox="1"/>
          <p:nvPr/>
        </p:nvSpPr>
        <p:spPr>
          <a:xfrm>
            <a:off x="508000" y="44450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WAT inputs
Vt / Idsat</a:t>
            </a:r>
            <a:endParaRPr lang="zh-TW" altLang="en-US" sz="150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7D79E4AA-1104-E6CF-2E4F-ED43C44F6723}"/>
              </a:ext>
            </a:extLst>
          </p:cNvPr>
          <p:cNvCxnSpPr/>
          <p:nvPr/>
        </p:nvCxnSpPr>
        <p:spPr>
          <a:xfrm>
            <a:off x="2260600" y="4775200"/>
            <a:ext cx="355600" cy="0"/>
          </a:xfrm>
          <a:prstGeom prst="line">
            <a:avLst/>
          </a:prstGeom>
          <a:ln w="2540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C7DB2B8-C25D-45D8-B94C-80F598CC16E9}"/>
              </a:ext>
            </a:extLst>
          </p:cNvPr>
          <p:cNvSpPr/>
          <p:nvPr/>
        </p:nvSpPr>
        <p:spPr>
          <a:xfrm>
            <a:off x="2667000" y="4191000"/>
            <a:ext cx="1841500" cy="11684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EB2B8A8-C481-C123-860D-D62EC72C96FC}"/>
              </a:ext>
            </a:extLst>
          </p:cNvPr>
          <p:cNvSpPr txBox="1"/>
          <p:nvPr/>
        </p:nvSpPr>
        <p:spPr>
          <a:xfrm>
            <a:off x="2794000" y="44450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Drive strength
</a:t>
            </a:r>
            <a:r>
              <a:rPr lang="el-GR" altLang="zh-TW" sz="15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β </a:t>
            </a:r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calibration</a:t>
            </a:r>
            <a:endParaRPr lang="zh-TW" altLang="en-US" sz="150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C9A15DE-D773-ABBA-DCED-B8ADBE77F7E0}"/>
              </a:ext>
            </a:extLst>
          </p:cNvPr>
          <p:cNvCxnSpPr/>
          <p:nvPr/>
        </p:nvCxnSpPr>
        <p:spPr>
          <a:xfrm>
            <a:off x="4546600" y="4775200"/>
            <a:ext cx="355600" cy="0"/>
          </a:xfrm>
          <a:prstGeom prst="line">
            <a:avLst/>
          </a:prstGeom>
          <a:ln w="2540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8EC38E81-7A77-C53D-FBC1-964E7FE86F60}"/>
              </a:ext>
            </a:extLst>
          </p:cNvPr>
          <p:cNvSpPr/>
          <p:nvPr/>
        </p:nvSpPr>
        <p:spPr>
          <a:xfrm>
            <a:off x="4953000" y="4191000"/>
            <a:ext cx="1841500" cy="1168400"/>
          </a:xfrm>
          <a:prstGeom prst="rect">
            <a:avLst/>
          </a:prstGeom>
          <a:solidFill>
            <a:srgbClr val="6DCB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E61F232-6B8E-A39A-63E4-652CF56C1B0A}"/>
              </a:ext>
            </a:extLst>
          </p:cNvPr>
          <p:cNvSpPr txBox="1"/>
          <p:nvPr/>
        </p:nvSpPr>
        <p:spPr>
          <a:xfrm>
            <a:off x="5080000" y="44450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altLang="zh-TW" sz="15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6T device competition
PU / PG / PD</a:t>
            </a:r>
            <a:endParaRPr lang="zh-TW" altLang="en-US" sz="150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A72DBA74-68E9-CED4-72B3-1C633EF06A13}"/>
              </a:ext>
            </a:extLst>
          </p:cNvPr>
          <p:cNvCxnSpPr/>
          <p:nvPr/>
        </p:nvCxnSpPr>
        <p:spPr>
          <a:xfrm>
            <a:off x="6832600" y="4775200"/>
            <a:ext cx="355600" cy="0"/>
          </a:xfrm>
          <a:prstGeom prst="line">
            <a:avLst/>
          </a:prstGeom>
          <a:ln w="2540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937B6B28-21B2-646E-C183-44517416E1DB}"/>
              </a:ext>
            </a:extLst>
          </p:cNvPr>
          <p:cNvSpPr/>
          <p:nvPr/>
        </p:nvSpPr>
        <p:spPr>
          <a:xfrm>
            <a:off x="7239000" y="4191000"/>
            <a:ext cx="1841500" cy="1168400"/>
          </a:xfrm>
          <a:prstGeom prst="rect">
            <a:avLst/>
          </a:prstGeom>
          <a:solidFill>
            <a:srgbClr val="6DCB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B046AE5-D74B-385F-397F-CB8C8C7C2FD0}"/>
              </a:ext>
            </a:extLst>
          </p:cNvPr>
          <p:cNvSpPr txBox="1"/>
          <p:nvPr/>
        </p:nvSpPr>
        <p:spPr>
          <a:xfrm>
            <a:off x="7366000" y="44450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Inverter VTC
Vin → Vout</a:t>
            </a:r>
            <a:endParaRPr lang="zh-TW" altLang="en-US" sz="150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05583106-BFC5-3CBF-1BA2-6C2638F7C64F}"/>
              </a:ext>
            </a:extLst>
          </p:cNvPr>
          <p:cNvCxnSpPr/>
          <p:nvPr/>
        </p:nvCxnSpPr>
        <p:spPr>
          <a:xfrm>
            <a:off x="9118600" y="4775200"/>
            <a:ext cx="355600" cy="0"/>
          </a:xfrm>
          <a:prstGeom prst="line">
            <a:avLst/>
          </a:prstGeom>
          <a:ln w="2540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7DD4FFB-C643-C3EE-A341-5B1B35E0FBCD}"/>
              </a:ext>
            </a:extLst>
          </p:cNvPr>
          <p:cNvSpPr/>
          <p:nvPr/>
        </p:nvSpPr>
        <p:spPr>
          <a:xfrm>
            <a:off x="9525000" y="4191000"/>
            <a:ext cx="1841500" cy="1168400"/>
          </a:xfrm>
          <a:prstGeom prst="rect">
            <a:avLst/>
          </a:prstGeom>
          <a:solidFill>
            <a:srgbClr val="3D8D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61D782F-5369-6945-DC79-A460FD6D1F0C}"/>
              </a:ext>
            </a:extLst>
          </p:cNvPr>
          <p:cNvSpPr txBox="1"/>
          <p:nvPr/>
        </p:nvSpPr>
        <p:spPr>
          <a:xfrm>
            <a:off x="9652000" y="44450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Ratios and SNM
stability assessment</a:t>
            </a:r>
            <a:endParaRPr lang="zh-TW" altLang="en-US" sz="15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5B376FD-2744-DEDE-4331-400A3C5D539C}"/>
              </a:ext>
            </a:extLst>
          </p:cNvPr>
          <p:cNvSpPr txBox="1"/>
          <p:nvPr/>
        </p:nvSpPr>
        <p:spPr>
          <a:xfrm>
            <a:off x="381000" y="57023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Purpose: compare Lot/Wafer trends with the WAT Target; not a PDK / BSIM sign-off model.</a:t>
            </a:r>
            <a:endParaRPr lang="zh-TW" altLang="en-US" sz="16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51697D76-891C-038B-A77A-2A30C58EB2A4}"/>
              </a:ext>
            </a:extLst>
          </p:cNvPr>
          <p:cNvCxnSpPr/>
          <p:nvPr/>
        </p:nvCxnSpPr>
        <p:spPr>
          <a:xfrm>
            <a:off x="381000" y="6438900"/>
            <a:ext cx="11430000" cy="0"/>
          </a:xfrm>
          <a:prstGeom prst="line">
            <a:avLst/>
          </a:prstGeom>
          <a:ln w="1016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20B81FA-2FFF-EE7D-23C3-7F5D364D186E}"/>
              </a:ext>
            </a:extLst>
          </p:cNvPr>
          <p:cNvSpPr txBox="1"/>
          <p:nvPr/>
        </p:nvSpPr>
        <p:spPr>
          <a:xfrm>
            <a:off x="381000" y="6515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HV28 SRAM Analysis · WAT-calibrated trend model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0495AF8-8A07-465B-7D8D-3BB677ED8C42}"/>
              </a:ext>
            </a:extLst>
          </p:cNvPr>
          <p:cNvSpPr txBox="1"/>
          <p:nvPr/>
        </p:nvSpPr>
        <p:spPr>
          <a:xfrm>
            <a:off x="11430000" y="65151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1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4315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57FF841-E684-D093-83F5-0A4B72C441B7}"/>
              </a:ext>
            </a:extLst>
          </p:cNvPr>
          <p:cNvSpPr txBox="1"/>
          <p:nvPr/>
        </p:nvSpPr>
        <p:spPr>
          <a:xfrm>
            <a:off x="381000" y="2540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30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Idsat Calibration Uses Saturation; the Full VTC Does Not</a:t>
            </a:r>
            <a:endParaRPr lang="zh-TW" altLang="en-US" sz="30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7E5935DC-FBF7-472E-B44F-5ABE0805B759}"/>
              </a:ext>
            </a:extLst>
          </p:cNvPr>
          <p:cNvCxnSpPr/>
          <p:nvPr/>
        </p:nvCxnSpPr>
        <p:spPr>
          <a:xfrm>
            <a:off x="381000" y="1054100"/>
            <a:ext cx="11430000" cy="0"/>
          </a:xfrm>
          <a:prstGeom prst="line">
            <a:avLst/>
          </a:prstGeom>
          <a:ln w="1270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>
            <a:extLst>
              <a:ext uri="{FF2B5EF4-FFF2-40B4-BE49-F238E27FC236}">
                <a16:creationId xmlns:a16="http://schemas.microsoft.com/office/drawing/2014/main" id="{5A798F0D-830B-E150-518F-F56FB2997D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1610582"/>
            <a:ext cx="6350000" cy="406863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424B273-45E9-7843-FEBE-72DC947B3C20}"/>
              </a:ext>
            </a:extLst>
          </p:cNvPr>
          <p:cNvSpPr/>
          <p:nvPr/>
        </p:nvSpPr>
        <p:spPr>
          <a:xfrm>
            <a:off x="7302500" y="1460500"/>
            <a:ext cx="4508500" cy="1320800"/>
          </a:xfrm>
          <a:prstGeom prst="rect">
            <a:avLst/>
          </a:prstGeom>
          <a:solidFill>
            <a:srgbClr val="6DCB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1E0F9F4-ABF3-7144-1C1D-43AA699AED2C}"/>
              </a:ext>
            </a:extLst>
          </p:cNvPr>
          <p:cNvSpPr txBox="1"/>
          <p:nvPr/>
        </p:nvSpPr>
        <p:spPr>
          <a:xfrm>
            <a:off x="7594600" y="1676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WAT calibration point: saturation</a:t>
            </a:r>
            <a:endParaRPr lang="zh-TW" altLang="en-US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ADC7B6F-850F-0EC8-5D23-EBF22F6B16DC}"/>
              </a:ext>
            </a:extLst>
          </p:cNvPr>
          <p:cNvSpPr txBox="1"/>
          <p:nvPr/>
        </p:nvSpPr>
        <p:spPr>
          <a:xfrm>
            <a:off x="7594600" y="21336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22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Idsat = ½</a:t>
            </a:r>
            <a:r>
              <a:rPr lang="el-GR" altLang="zh-TW" sz="22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β(</a:t>
            </a:r>
            <a:r>
              <a:rPr lang="en-US" altLang="zh-TW" sz="22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VGS − Vt)²</a:t>
            </a:r>
            <a:endParaRPr lang="zh-TW" altLang="en-US" sz="22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B67905D-7D15-F0CC-EC87-7749099FB0DD}"/>
              </a:ext>
            </a:extLst>
          </p:cNvPr>
          <p:cNvSpPr txBox="1"/>
          <p:nvPr/>
        </p:nvSpPr>
        <p:spPr>
          <a:xfrm>
            <a:off x="7594600" y="25019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3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Condition: VDS ≥ VGS − Vt; VGS = V_WAT</a:t>
            </a:r>
            <a:endParaRPr lang="zh-TW" altLang="en-US" sz="13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4E855D-0D07-E6C2-B3B4-7224F003CEDF}"/>
              </a:ext>
            </a:extLst>
          </p:cNvPr>
          <p:cNvSpPr/>
          <p:nvPr/>
        </p:nvSpPr>
        <p:spPr>
          <a:xfrm>
            <a:off x="7302500" y="3022600"/>
            <a:ext cx="4508500" cy="16764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25288FC-676D-7CB3-1A71-C9F8CA2DD7DB}"/>
              </a:ext>
            </a:extLst>
          </p:cNvPr>
          <p:cNvSpPr txBox="1"/>
          <p:nvPr/>
        </p:nvSpPr>
        <p:spPr>
          <a:xfrm>
            <a:off x="7594600" y="32385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Full VTC: switch by operating region</a:t>
            </a:r>
            <a:endParaRPr lang="zh-TW" altLang="en-US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531BCA-17AE-B166-1296-BE09FFC51F4B}"/>
              </a:ext>
            </a:extLst>
          </p:cNvPr>
          <p:cNvSpPr txBox="1"/>
          <p:nvPr/>
        </p:nvSpPr>
        <p:spPr>
          <a:xfrm>
            <a:off x="7594600" y="36957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7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Linear: </a:t>
            </a:r>
            <a:r>
              <a:rPr lang="el-GR" altLang="zh-TW" sz="17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β[(</a:t>
            </a:r>
            <a:r>
              <a:rPr lang="en-US" altLang="zh-TW" sz="17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VGS−Vt)VDS − ½VDS²]
Saturation: ½</a:t>
            </a:r>
            <a:r>
              <a:rPr lang="el-GR" altLang="zh-TW" sz="17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β(</a:t>
            </a:r>
            <a:r>
              <a:rPr lang="en-US" altLang="zh-TW" sz="17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VGS−Vt)²</a:t>
            </a:r>
            <a:endParaRPr lang="zh-TW" altLang="en-US" sz="170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DA2E3DA-4BEA-231E-AD62-F82DFD7EF462}"/>
              </a:ext>
            </a:extLst>
          </p:cNvPr>
          <p:cNvSpPr txBox="1"/>
          <p:nvPr/>
        </p:nvSpPr>
        <p:spPr>
          <a:xfrm>
            <a:off x="7594600" y="43815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2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The PU / PG / PD region is re-evaluated at every Vin.</a:t>
            </a:r>
            <a:endParaRPr lang="zh-TW" altLang="en-US" sz="12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C48D05-DA17-95A7-9997-2C47E36343C8}"/>
              </a:ext>
            </a:extLst>
          </p:cNvPr>
          <p:cNvSpPr/>
          <p:nvPr/>
        </p:nvSpPr>
        <p:spPr>
          <a:xfrm>
            <a:off x="7302500" y="4940300"/>
            <a:ext cx="4508500" cy="927100"/>
          </a:xfrm>
          <a:prstGeom prst="rect">
            <a:avLst/>
          </a:prstGeom>
          <a:solidFill>
            <a:srgbClr val="EAF8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B0CBB59-FFD0-FB2A-758F-526FA7D256E4}"/>
              </a:ext>
            </a:extLst>
          </p:cNvPr>
          <p:cNvSpPr txBox="1"/>
          <p:nvPr/>
        </p:nvSpPr>
        <p:spPr>
          <a:xfrm>
            <a:off x="7594600" y="5105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Therefore: calibration uses saturation;
VTC and SNM are not saturated throughout.</a:t>
            </a:r>
            <a:endParaRPr lang="zh-TW" altLang="en-US" sz="16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FECBCBA-B687-88F7-3BD7-63DB06432CE9}"/>
              </a:ext>
            </a:extLst>
          </p:cNvPr>
          <p:cNvSpPr txBox="1"/>
          <p:nvPr/>
        </p:nvSpPr>
        <p:spPr>
          <a:xfrm>
            <a:off x="444500" y="5994400"/>
            <a:ext cx="1136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2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Example: Vt=0.30 V and Idsat@VGS=0.90 V=45 μA; shown only to explain calibration.</a:t>
            </a:r>
            <a:endParaRPr lang="zh-TW" altLang="en-US" sz="12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8795B64-C3C0-D566-0AF8-2B5391B356E8}"/>
              </a:ext>
            </a:extLst>
          </p:cNvPr>
          <p:cNvCxnSpPr/>
          <p:nvPr/>
        </p:nvCxnSpPr>
        <p:spPr>
          <a:xfrm>
            <a:off x="381000" y="6438900"/>
            <a:ext cx="11430000" cy="0"/>
          </a:xfrm>
          <a:prstGeom prst="line">
            <a:avLst/>
          </a:prstGeom>
          <a:ln w="1016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5862EBD-BC8D-AF6F-96D5-100E8E0817F6}"/>
              </a:ext>
            </a:extLst>
          </p:cNvPr>
          <p:cNvSpPr txBox="1"/>
          <p:nvPr/>
        </p:nvSpPr>
        <p:spPr>
          <a:xfrm>
            <a:off x="381000" y="6515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HV28 SRAM Analysis · WAT-calibrated trend model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4CE4BBB-D429-4983-3874-7601C0BF0191}"/>
              </a:ext>
            </a:extLst>
          </p:cNvPr>
          <p:cNvSpPr txBox="1"/>
          <p:nvPr/>
        </p:nvSpPr>
        <p:spPr>
          <a:xfrm>
            <a:off x="11430000" y="65151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2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973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DB641D2-C69A-33F8-C14B-2387EA7EB871}"/>
              </a:ext>
            </a:extLst>
          </p:cNvPr>
          <p:cNvSpPr txBox="1"/>
          <p:nvPr/>
        </p:nvSpPr>
        <p:spPr>
          <a:xfrm>
            <a:off x="381000" y="2540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31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Cell and Pull-up Ratios Reflect 6T Device Competition</a:t>
            </a:r>
            <a:endParaRPr lang="zh-TW" altLang="en-US" sz="31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AAB45398-E52D-4F46-EDAC-6C3C7F17A88E}"/>
              </a:ext>
            </a:extLst>
          </p:cNvPr>
          <p:cNvCxnSpPr/>
          <p:nvPr/>
        </p:nvCxnSpPr>
        <p:spPr>
          <a:xfrm>
            <a:off x="381000" y="1054100"/>
            <a:ext cx="11430000" cy="0"/>
          </a:xfrm>
          <a:prstGeom prst="line">
            <a:avLst/>
          </a:prstGeom>
          <a:ln w="1270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3387AB85-AA19-A09B-E488-B9522984C59C}"/>
              </a:ext>
            </a:extLst>
          </p:cNvPr>
          <p:cNvCxnSpPr/>
          <p:nvPr/>
        </p:nvCxnSpPr>
        <p:spPr>
          <a:xfrm>
            <a:off x="2159000" y="1524000"/>
            <a:ext cx="40005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59046F7-579E-96C3-C77F-F5049B428505}"/>
              </a:ext>
            </a:extLst>
          </p:cNvPr>
          <p:cNvCxnSpPr/>
          <p:nvPr/>
        </p:nvCxnSpPr>
        <p:spPr>
          <a:xfrm>
            <a:off x="2159000" y="5435600"/>
            <a:ext cx="40005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FC2DD458-AEAC-EB50-B6DE-513897E5B97C}"/>
              </a:ext>
            </a:extLst>
          </p:cNvPr>
          <p:cNvCxnSpPr/>
          <p:nvPr/>
        </p:nvCxnSpPr>
        <p:spPr>
          <a:xfrm>
            <a:off x="3073400" y="1524000"/>
            <a:ext cx="0" cy="508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A852C735-E972-6D94-8722-25236EFC0210}"/>
              </a:ext>
            </a:extLst>
          </p:cNvPr>
          <p:cNvCxnSpPr/>
          <p:nvPr/>
        </p:nvCxnSpPr>
        <p:spPr>
          <a:xfrm>
            <a:off x="3073400" y="2603500"/>
            <a:ext cx="0" cy="889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41EE046-F888-604B-DD54-CBB6209CD891}"/>
              </a:ext>
            </a:extLst>
          </p:cNvPr>
          <p:cNvCxnSpPr/>
          <p:nvPr/>
        </p:nvCxnSpPr>
        <p:spPr>
          <a:xfrm>
            <a:off x="3073400" y="3492500"/>
            <a:ext cx="0" cy="6985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36EE1609-A800-E66F-E1D1-213D3A8BEB9F}"/>
              </a:ext>
            </a:extLst>
          </p:cNvPr>
          <p:cNvCxnSpPr/>
          <p:nvPr/>
        </p:nvCxnSpPr>
        <p:spPr>
          <a:xfrm>
            <a:off x="3073400" y="4762500"/>
            <a:ext cx="0" cy="6731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7230D2D-E14D-F308-2867-A3AE78739563}"/>
              </a:ext>
            </a:extLst>
          </p:cNvPr>
          <p:cNvCxnSpPr/>
          <p:nvPr/>
        </p:nvCxnSpPr>
        <p:spPr>
          <a:xfrm>
            <a:off x="5232400" y="1524000"/>
            <a:ext cx="0" cy="508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EE4CD947-0429-2ECE-CE67-8908D8BBF21F}"/>
              </a:ext>
            </a:extLst>
          </p:cNvPr>
          <p:cNvCxnSpPr/>
          <p:nvPr/>
        </p:nvCxnSpPr>
        <p:spPr>
          <a:xfrm>
            <a:off x="5232400" y="2603500"/>
            <a:ext cx="0" cy="889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6697479F-1849-EF2D-33A7-9446431AFD16}"/>
              </a:ext>
            </a:extLst>
          </p:cNvPr>
          <p:cNvCxnSpPr/>
          <p:nvPr/>
        </p:nvCxnSpPr>
        <p:spPr>
          <a:xfrm>
            <a:off x="5232400" y="3492500"/>
            <a:ext cx="0" cy="6985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4C7A938-2659-972C-677B-3DBDB3BB3A30}"/>
              </a:ext>
            </a:extLst>
          </p:cNvPr>
          <p:cNvCxnSpPr/>
          <p:nvPr/>
        </p:nvCxnSpPr>
        <p:spPr>
          <a:xfrm>
            <a:off x="5232400" y="4762500"/>
            <a:ext cx="0" cy="6731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EFDFBA3-124D-8601-233D-269B5F14B1A6}"/>
              </a:ext>
            </a:extLst>
          </p:cNvPr>
          <p:cNvCxnSpPr/>
          <p:nvPr/>
        </p:nvCxnSpPr>
        <p:spPr>
          <a:xfrm>
            <a:off x="825500" y="3492500"/>
            <a:ext cx="22479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5F3D0A08-DA8B-E5EE-D0D1-1B5CFF7B32FB}"/>
              </a:ext>
            </a:extLst>
          </p:cNvPr>
          <p:cNvCxnSpPr/>
          <p:nvPr/>
        </p:nvCxnSpPr>
        <p:spPr>
          <a:xfrm>
            <a:off x="5232400" y="3492500"/>
            <a:ext cx="22606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3E5C651-6245-7C00-D536-AC1723842BF2}"/>
              </a:ext>
            </a:extLst>
          </p:cNvPr>
          <p:cNvCxnSpPr/>
          <p:nvPr/>
        </p:nvCxnSpPr>
        <p:spPr>
          <a:xfrm>
            <a:off x="825500" y="1295400"/>
            <a:ext cx="6413500" cy="0"/>
          </a:xfrm>
          <a:prstGeom prst="line">
            <a:avLst/>
          </a:prstGeom>
          <a:ln w="1778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27F2A816-DF5B-38AA-1767-23B9762C36AB}"/>
              </a:ext>
            </a:extLst>
          </p:cNvPr>
          <p:cNvCxnSpPr/>
          <p:nvPr/>
        </p:nvCxnSpPr>
        <p:spPr>
          <a:xfrm>
            <a:off x="1397000" y="1295400"/>
            <a:ext cx="0" cy="1816100"/>
          </a:xfrm>
          <a:prstGeom prst="line">
            <a:avLst/>
          </a:prstGeom>
          <a:ln w="17780">
            <a:solidFill>
              <a:srgbClr val="76C7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8C2D9765-C1EE-353B-C711-A2EF2F2DF8EF}"/>
              </a:ext>
            </a:extLst>
          </p:cNvPr>
          <p:cNvCxnSpPr/>
          <p:nvPr/>
        </p:nvCxnSpPr>
        <p:spPr>
          <a:xfrm>
            <a:off x="6667500" y="1295400"/>
            <a:ext cx="0" cy="1816100"/>
          </a:xfrm>
          <a:prstGeom prst="line">
            <a:avLst/>
          </a:prstGeom>
          <a:ln w="17780">
            <a:solidFill>
              <a:srgbClr val="76C7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6CA1DD48-280E-6946-A437-5B462334ED30}"/>
              </a:ext>
            </a:extLst>
          </p:cNvPr>
          <p:cNvCxnSpPr/>
          <p:nvPr/>
        </p:nvCxnSpPr>
        <p:spPr>
          <a:xfrm flipV="1">
            <a:off x="3073400" y="2717800"/>
            <a:ext cx="1816100" cy="774700"/>
          </a:xfrm>
          <a:prstGeom prst="line">
            <a:avLst/>
          </a:prstGeom>
          <a:ln w="17780">
            <a:solidFill>
              <a:srgbClr val="A05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43FF63E4-32B7-1CAD-35FB-6ADD84C05D7B}"/>
              </a:ext>
            </a:extLst>
          </p:cNvPr>
          <p:cNvCxnSpPr/>
          <p:nvPr/>
        </p:nvCxnSpPr>
        <p:spPr>
          <a:xfrm flipH="1" flipV="1">
            <a:off x="3416300" y="2717800"/>
            <a:ext cx="1816100" cy="774700"/>
          </a:xfrm>
          <a:prstGeom prst="line">
            <a:avLst/>
          </a:prstGeom>
          <a:ln w="17780">
            <a:solidFill>
              <a:srgbClr val="A05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388887E-FE5A-7868-0EFE-EB433A966AC4}"/>
              </a:ext>
            </a:extLst>
          </p:cNvPr>
          <p:cNvSpPr txBox="1"/>
          <p:nvPr/>
        </p:nvSpPr>
        <p:spPr>
          <a:xfrm>
            <a:off x="3873500" y="11176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WL</a:t>
            </a:r>
            <a:endParaRPr lang="zh-TW" altLang="en-US" sz="13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1D8AFC9-6AFB-FF5B-664A-441D0FFD8D56}"/>
              </a:ext>
            </a:extLst>
          </p:cNvPr>
          <p:cNvSpPr txBox="1"/>
          <p:nvPr/>
        </p:nvSpPr>
        <p:spPr>
          <a:xfrm>
            <a:off x="3873500" y="16002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VDD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6916389-BC74-F693-FDC3-3CF96E86251C}"/>
              </a:ext>
            </a:extLst>
          </p:cNvPr>
          <p:cNvSpPr txBox="1"/>
          <p:nvPr/>
        </p:nvSpPr>
        <p:spPr>
          <a:xfrm>
            <a:off x="3873500" y="5461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GND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68BD66B-7205-C49C-F47C-A3859703C53C}"/>
              </a:ext>
            </a:extLst>
          </p:cNvPr>
          <p:cNvSpPr txBox="1"/>
          <p:nvPr/>
        </p:nvSpPr>
        <p:spPr>
          <a:xfrm>
            <a:off x="482600" y="35560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100" b="1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BLB</a:t>
            </a:r>
            <a:endParaRPr lang="zh-TW" altLang="en-US" sz="1100" b="1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49FDD22-75B5-6E80-B83C-9D4FFE4510B7}"/>
              </a:ext>
            </a:extLst>
          </p:cNvPr>
          <p:cNvSpPr txBox="1"/>
          <p:nvPr/>
        </p:nvSpPr>
        <p:spPr>
          <a:xfrm>
            <a:off x="6959600" y="35560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100" b="1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BL</a:t>
            </a:r>
            <a:endParaRPr lang="zh-TW" altLang="en-US" sz="1100" b="1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1BF0646-2BDA-3D66-AB9E-A57850209995}"/>
              </a:ext>
            </a:extLst>
          </p:cNvPr>
          <p:cNvSpPr/>
          <p:nvPr/>
        </p:nvSpPr>
        <p:spPr>
          <a:xfrm>
            <a:off x="2501900" y="2032000"/>
            <a:ext cx="1143000" cy="571500"/>
          </a:xfrm>
          <a:prstGeom prst="rect">
            <a:avLst/>
          </a:prstGeom>
          <a:solidFill>
            <a:srgbClr val="FFE6E6"/>
          </a:solidFill>
          <a:ln w="19050">
            <a:solidFill>
              <a:srgbClr val="FF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21B705B-9FAD-DF18-95E8-59F3B0D9D6E2}"/>
              </a:ext>
            </a:extLst>
          </p:cNvPr>
          <p:cNvSpPr txBox="1"/>
          <p:nvPr/>
        </p:nvSpPr>
        <p:spPr>
          <a:xfrm>
            <a:off x="2628900" y="2133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FF3333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PUL
PU</a:t>
            </a:r>
            <a:endParaRPr lang="zh-TW" altLang="en-US" sz="1300" b="1">
              <a:solidFill>
                <a:srgbClr val="FF3333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CD0B4A-5517-2FC8-C67C-4AA9E3A526AA}"/>
              </a:ext>
            </a:extLst>
          </p:cNvPr>
          <p:cNvSpPr/>
          <p:nvPr/>
        </p:nvSpPr>
        <p:spPr>
          <a:xfrm>
            <a:off x="4660900" y="2032000"/>
            <a:ext cx="1143000" cy="571500"/>
          </a:xfrm>
          <a:prstGeom prst="rect">
            <a:avLst/>
          </a:prstGeom>
          <a:solidFill>
            <a:srgbClr val="FFE6E6"/>
          </a:solidFill>
          <a:ln w="19050">
            <a:solidFill>
              <a:srgbClr val="FF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D856326-86BA-7A43-F02D-6381C0FD31E7}"/>
              </a:ext>
            </a:extLst>
          </p:cNvPr>
          <p:cNvSpPr txBox="1"/>
          <p:nvPr/>
        </p:nvSpPr>
        <p:spPr>
          <a:xfrm>
            <a:off x="4787900" y="2133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FF3333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PUR
PU</a:t>
            </a:r>
            <a:endParaRPr lang="zh-TW" altLang="en-US" sz="1300" b="1">
              <a:solidFill>
                <a:srgbClr val="FF3333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E63C36-13D8-1B06-EC9E-AB2B6D291AB8}"/>
              </a:ext>
            </a:extLst>
          </p:cNvPr>
          <p:cNvSpPr/>
          <p:nvPr/>
        </p:nvSpPr>
        <p:spPr>
          <a:xfrm>
            <a:off x="825500" y="3111500"/>
            <a:ext cx="1143000" cy="762000"/>
          </a:xfrm>
          <a:prstGeom prst="rect">
            <a:avLst/>
          </a:prstGeom>
          <a:solidFill>
            <a:srgbClr val="EAF8EE"/>
          </a:solidFill>
          <a:ln w="19050">
            <a:solidFill>
              <a:srgbClr val="4FB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6375613-F0EC-3B44-3C24-5BEB7CC7B510}"/>
              </a:ext>
            </a:extLst>
          </p:cNvPr>
          <p:cNvSpPr txBox="1"/>
          <p:nvPr/>
        </p:nvSpPr>
        <p:spPr>
          <a:xfrm>
            <a:off x="952500" y="3276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4FB833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PGL
PG</a:t>
            </a:r>
            <a:endParaRPr lang="zh-TW" altLang="en-US" sz="1300" b="1">
              <a:solidFill>
                <a:srgbClr val="4FB833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287C5A9-5F24-1BD8-F2B0-FB6671D9CB05}"/>
              </a:ext>
            </a:extLst>
          </p:cNvPr>
          <p:cNvSpPr/>
          <p:nvPr/>
        </p:nvSpPr>
        <p:spPr>
          <a:xfrm>
            <a:off x="6350000" y="3111500"/>
            <a:ext cx="1143000" cy="762000"/>
          </a:xfrm>
          <a:prstGeom prst="rect">
            <a:avLst/>
          </a:prstGeom>
          <a:solidFill>
            <a:srgbClr val="EAF8EE"/>
          </a:solidFill>
          <a:ln w="19050">
            <a:solidFill>
              <a:srgbClr val="4FB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52BAAFE-89BB-7BEE-AF34-FF4FB4E0C1B7}"/>
              </a:ext>
            </a:extLst>
          </p:cNvPr>
          <p:cNvSpPr txBox="1"/>
          <p:nvPr/>
        </p:nvSpPr>
        <p:spPr>
          <a:xfrm>
            <a:off x="6477000" y="3276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4FB833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PGR
PG</a:t>
            </a:r>
            <a:endParaRPr lang="zh-TW" altLang="en-US" sz="1300" b="1">
              <a:solidFill>
                <a:srgbClr val="4FB833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046AA51-90FE-9EDB-2C18-7DE2FFD31864}"/>
              </a:ext>
            </a:extLst>
          </p:cNvPr>
          <p:cNvSpPr/>
          <p:nvPr/>
        </p:nvSpPr>
        <p:spPr>
          <a:xfrm>
            <a:off x="2501900" y="4191000"/>
            <a:ext cx="1143000" cy="571500"/>
          </a:xfrm>
          <a:prstGeom prst="rect">
            <a:avLst/>
          </a:prstGeom>
          <a:solidFill>
            <a:srgbClr val="EAF2FF"/>
          </a:solidFill>
          <a:ln w="19050">
            <a:solidFill>
              <a:srgbClr val="007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A54587E-6EF6-3CFA-4139-0792D273842A}"/>
              </a:ext>
            </a:extLst>
          </p:cNvPr>
          <p:cNvSpPr txBox="1"/>
          <p:nvPr/>
        </p:nvSpPr>
        <p:spPr>
          <a:xfrm>
            <a:off x="2628900" y="4292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007AFF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PDL
PD</a:t>
            </a:r>
            <a:endParaRPr lang="zh-TW" altLang="en-US" sz="1300" b="1">
              <a:solidFill>
                <a:srgbClr val="007AFF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9C0CAAB-43B3-C0B3-40D4-4C1B4AF6BE08}"/>
              </a:ext>
            </a:extLst>
          </p:cNvPr>
          <p:cNvSpPr/>
          <p:nvPr/>
        </p:nvSpPr>
        <p:spPr>
          <a:xfrm>
            <a:off x="4660900" y="4191000"/>
            <a:ext cx="1143000" cy="571500"/>
          </a:xfrm>
          <a:prstGeom prst="rect">
            <a:avLst/>
          </a:prstGeom>
          <a:solidFill>
            <a:srgbClr val="EAF2FF"/>
          </a:solidFill>
          <a:ln w="19050">
            <a:solidFill>
              <a:srgbClr val="007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658FA63-34CB-831D-FC03-0DB8DAF5A075}"/>
              </a:ext>
            </a:extLst>
          </p:cNvPr>
          <p:cNvSpPr txBox="1"/>
          <p:nvPr/>
        </p:nvSpPr>
        <p:spPr>
          <a:xfrm>
            <a:off x="4787900" y="42926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007AFF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PDR
PD</a:t>
            </a:r>
            <a:endParaRPr lang="zh-TW" altLang="en-US" sz="1300" b="1">
              <a:solidFill>
                <a:srgbClr val="007AFF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BC89460-84D3-E3F2-5083-2D6E0D4864E9}"/>
              </a:ext>
            </a:extLst>
          </p:cNvPr>
          <p:cNvSpPr/>
          <p:nvPr/>
        </p:nvSpPr>
        <p:spPr>
          <a:xfrm>
            <a:off x="2971800" y="3390900"/>
            <a:ext cx="203200" cy="203200"/>
          </a:xfrm>
          <a:prstGeom prst="rect">
            <a:avLst/>
          </a:prstGeom>
          <a:solidFill>
            <a:srgbClr val="000000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40A811E-C280-E8A5-F61B-AF53EF84A2D6}"/>
              </a:ext>
            </a:extLst>
          </p:cNvPr>
          <p:cNvSpPr/>
          <p:nvPr/>
        </p:nvSpPr>
        <p:spPr>
          <a:xfrm>
            <a:off x="5130800" y="3390900"/>
            <a:ext cx="203200" cy="203200"/>
          </a:xfrm>
          <a:prstGeom prst="rect">
            <a:avLst/>
          </a:prstGeom>
          <a:solidFill>
            <a:srgbClr val="000000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C82CB44-6054-2A77-23F6-4D43F72DCC68}"/>
              </a:ext>
            </a:extLst>
          </p:cNvPr>
          <p:cNvSpPr txBox="1"/>
          <p:nvPr/>
        </p:nvSpPr>
        <p:spPr>
          <a:xfrm>
            <a:off x="2413000" y="3606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13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QB</a:t>
            </a:r>
            <a:endParaRPr lang="zh-TW" altLang="en-US" sz="13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C8A7B828-B476-6FC1-F3DE-B811D7BE335F}"/>
              </a:ext>
            </a:extLst>
          </p:cNvPr>
          <p:cNvSpPr txBox="1"/>
          <p:nvPr/>
        </p:nvSpPr>
        <p:spPr>
          <a:xfrm>
            <a:off x="5422900" y="36068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3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Q</a:t>
            </a:r>
            <a:endParaRPr lang="zh-TW" altLang="en-US" sz="13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29CBE6D-32A9-FABB-8E00-5BDDB8F5809D}"/>
              </a:ext>
            </a:extLst>
          </p:cNvPr>
          <p:cNvSpPr/>
          <p:nvPr/>
        </p:nvSpPr>
        <p:spPr>
          <a:xfrm>
            <a:off x="7874000" y="1422400"/>
            <a:ext cx="3937000" cy="18034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B984F0E9-2330-48C4-B2D7-059C12EBC570}"/>
              </a:ext>
            </a:extLst>
          </p:cNvPr>
          <p:cNvSpPr txBox="1"/>
          <p:nvPr/>
        </p:nvSpPr>
        <p:spPr>
          <a:xfrm>
            <a:off x="8128000" y="16002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3D8DFF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CELL RATIO</a:t>
            </a:r>
            <a:endParaRPr lang="zh-TW" altLang="en-US" b="1">
              <a:solidFill>
                <a:srgbClr val="3D8DFF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FB116B8-7F85-3624-2342-0BFE49F53E84}"/>
              </a:ext>
            </a:extLst>
          </p:cNvPr>
          <p:cNvSpPr txBox="1"/>
          <p:nvPr/>
        </p:nvSpPr>
        <p:spPr>
          <a:xfrm>
            <a:off x="8128000" y="19939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24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CR = </a:t>
            </a:r>
            <a:r>
              <a:rPr lang="el-GR" altLang="zh-TW" sz="24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β</a:t>
            </a:r>
            <a:r>
              <a:rPr lang="en-US" altLang="zh-TW" sz="24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PD / </a:t>
            </a:r>
            <a:r>
              <a:rPr lang="el-GR" altLang="zh-TW" sz="24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β</a:t>
            </a:r>
            <a:r>
              <a:rPr lang="en-US" altLang="zh-TW" sz="24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PG</a:t>
            </a:r>
            <a:endParaRPr lang="zh-TW" altLang="en-US" sz="24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8F403F1-AD75-D2B4-4722-92D4DE11CC7F}"/>
              </a:ext>
            </a:extLst>
          </p:cNvPr>
          <p:cNvSpPr txBox="1"/>
          <p:nvPr/>
        </p:nvSpPr>
        <p:spPr>
          <a:xfrm>
            <a:off x="8128000" y="24765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Read: PD must hold the stored 0
against disturbance through PG and the bitline.</a:t>
            </a:r>
            <a:endParaRPr lang="zh-TW" altLang="en-US" sz="150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42C352B-9C03-B8D9-EB4A-1A65AD5B210B}"/>
              </a:ext>
            </a:extLst>
          </p:cNvPr>
          <p:cNvSpPr/>
          <p:nvPr/>
        </p:nvSpPr>
        <p:spPr>
          <a:xfrm>
            <a:off x="7874000" y="3467100"/>
            <a:ext cx="3937000" cy="18034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F3A3C00-E158-554E-CC3C-4B972BD75200}"/>
              </a:ext>
            </a:extLst>
          </p:cNvPr>
          <p:cNvSpPr txBox="1"/>
          <p:nvPr/>
        </p:nvSpPr>
        <p:spPr>
          <a:xfrm>
            <a:off x="8128000" y="36449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FF8C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PULL-UP RATIO</a:t>
            </a:r>
            <a:endParaRPr lang="zh-TW" altLang="en-US" b="1">
              <a:solidFill>
                <a:srgbClr val="FF8C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58E95F0-7FB6-240B-BC43-20A67FEEDCAF}"/>
              </a:ext>
            </a:extLst>
          </p:cNvPr>
          <p:cNvSpPr txBox="1"/>
          <p:nvPr/>
        </p:nvSpPr>
        <p:spPr>
          <a:xfrm>
            <a:off x="8128000" y="40386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24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PR = </a:t>
            </a:r>
            <a:r>
              <a:rPr lang="el-GR" altLang="zh-TW" sz="24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β</a:t>
            </a:r>
            <a:r>
              <a:rPr lang="en-US" altLang="zh-TW" sz="24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PG / </a:t>
            </a:r>
            <a:r>
              <a:rPr lang="el-GR" altLang="zh-TW" sz="24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β</a:t>
            </a:r>
            <a:r>
              <a:rPr lang="en-US" altLang="zh-TW" sz="24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PU</a:t>
            </a:r>
            <a:endParaRPr lang="zh-TW" altLang="en-US" sz="24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7B2BBDD5-192B-22AB-8FB7-9B88D4038077}"/>
              </a:ext>
            </a:extLst>
          </p:cNvPr>
          <p:cNvSpPr txBox="1"/>
          <p:nvPr/>
        </p:nvSpPr>
        <p:spPr>
          <a:xfrm>
            <a:off x="8128000" y="45212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Write 0: PG must overpower PU
and pull the storage node low to flip the cell.</a:t>
            </a:r>
            <a:endParaRPr lang="zh-TW" altLang="en-US" sz="150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BA816DD-0503-501A-E367-A2FB778F9EB6}"/>
              </a:ext>
            </a:extLst>
          </p:cNvPr>
          <p:cNvSpPr txBox="1"/>
          <p:nvPr/>
        </p:nvSpPr>
        <p:spPr>
          <a:xfrm>
            <a:off x="444500" y="5867400"/>
            <a:ext cx="704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4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CR ↑ generally improves read-disturb tolerance  |  PR ↑ generally makes writing 0 easier</a:t>
            </a:r>
            <a:endParaRPr lang="zh-TW" altLang="en-US" sz="14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6746430-4EFE-7CD5-53A7-F3D7B71C2FA9}"/>
              </a:ext>
            </a:extLst>
          </p:cNvPr>
          <p:cNvSpPr txBox="1"/>
          <p:nvPr/>
        </p:nvSpPr>
        <p:spPr>
          <a:xfrm>
            <a:off x="7874000" y="55626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nl-NL" altLang="zh-TW" sz="17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β = 2·Idsat / (V_WAT − |Vt|)²</a:t>
            </a:r>
            <a:endParaRPr lang="zh-TW" altLang="en-US" sz="17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E9279F7-7DBB-12A6-09AD-66DEBA1E072C}"/>
              </a:ext>
            </a:extLst>
          </p:cNvPr>
          <p:cNvSpPr txBox="1"/>
          <p:nvPr/>
        </p:nvSpPr>
        <p:spPr>
          <a:xfrm>
            <a:off x="7874000" y="59436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1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V_WAT is the Idsat measurement bias (calibration VGS), not Vt.</a:t>
            </a:r>
            <a:endParaRPr lang="zh-TW" altLang="en-US" sz="11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DE3763B4-D1BD-6F32-3EBF-2E21C6248ACF}"/>
              </a:ext>
            </a:extLst>
          </p:cNvPr>
          <p:cNvCxnSpPr/>
          <p:nvPr/>
        </p:nvCxnSpPr>
        <p:spPr>
          <a:xfrm>
            <a:off x="381000" y="6438900"/>
            <a:ext cx="11430000" cy="0"/>
          </a:xfrm>
          <a:prstGeom prst="line">
            <a:avLst/>
          </a:prstGeom>
          <a:ln w="1016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82FFF3ED-13AC-593E-25C6-214437751891}"/>
              </a:ext>
            </a:extLst>
          </p:cNvPr>
          <p:cNvSpPr txBox="1"/>
          <p:nvPr/>
        </p:nvSpPr>
        <p:spPr>
          <a:xfrm>
            <a:off x="381000" y="6515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HV28 SRAM Analysis · WAT-calibrated trend model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C4EE78C-9DD7-97A6-C2BC-784FDC418935}"/>
              </a:ext>
            </a:extLst>
          </p:cNvPr>
          <p:cNvSpPr txBox="1"/>
          <p:nvPr/>
        </p:nvSpPr>
        <p:spPr>
          <a:xfrm>
            <a:off x="11430000" y="65151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3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6221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79AB5C5-A93A-C69E-D44B-90EC2F2DE160}"/>
              </a:ext>
            </a:extLst>
          </p:cNvPr>
          <p:cNvSpPr txBox="1"/>
          <p:nvPr/>
        </p:nvSpPr>
        <p:spPr>
          <a:xfrm>
            <a:off x="381000" y="2540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31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Read SNM: From Read VTCs to the Limiting Eye</a:t>
            </a:r>
            <a:endParaRPr lang="zh-TW" altLang="en-US" sz="31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001B6408-FA59-DDD4-F5C3-B23434D12922}"/>
              </a:ext>
            </a:extLst>
          </p:cNvPr>
          <p:cNvCxnSpPr/>
          <p:nvPr/>
        </p:nvCxnSpPr>
        <p:spPr>
          <a:xfrm>
            <a:off x="381000" y="1054100"/>
            <a:ext cx="11430000" cy="0"/>
          </a:xfrm>
          <a:prstGeom prst="line">
            <a:avLst/>
          </a:prstGeom>
          <a:ln w="1270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>
            <a:extLst>
              <a:ext uri="{FF2B5EF4-FFF2-40B4-BE49-F238E27FC236}">
                <a16:creationId xmlns:a16="http://schemas.microsoft.com/office/drawing/2014/main" id="{A75116AD-C4EB-1D77-B00D-67FDDE2126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1817864"/>
            <a:ext cx="6350000" cy="3615972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07D05B28-544C-1C75-0507-16917592083B}"/>
              </a:ext>
            </a:extLst>
          </p:cNvPr>
          <p:cNvCxnSpPr/>
          <p:nvPr/>
        </p:nvCxnSpPr>
        <p:spPr>
          <a:xfrm flipH="1">
            <a:off x="5765800" y="1752600"/>
            <a:ext cx="914400" cy="698500"/>
          </a:xfrm>
          <a:prstGeom prst="line">
            <a:avLst/>
          </a:prstGeom>
          <a:ln w="15240">
            <a:solidFill>
              <a:srgbClr val="3D8D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8EC11BCF-1E51-5703-4AFD-8BC2D40B7654}"/>
              </a:ext>
            </a:extLst>
          </p:cNvPr>
          <p:cNvCxnSpPr/>
          <p:nvPr/>
        </p:nvCxnSpPr>
        <p:spPr>
          <a:xfrm flipH="1">
            <a:off x="3594100" y="2844800"/>
            <a:ext cx="3086100" cy="482600"/>
          </a:xfrm>
          <a:prstGeom prst="line">
            <a:avLst/>
          </a:prstGeom>
          <a:ln w="15240">
            <a:solidFill>
              <a:srgbClr val="6666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1D83FE2-E7FE-A762-EE24-996C9E5BBCA3}"/>
              </a:ext>
            </a:extLst>
          </p:cNvPr>
          <p:cNvCxnSpPr/>
          <p:nvPr/>
        </p:nvCxnSpPr>
        <p:spPr>
          <a:xfrm flipH="1" flipV="1">
            <a:off x="5168900" y="3797300"/>
            <a:ext cx="1511300" cy="139700"/>
          </a:xfrm>
          <a:prstGeom prst="line">
            <a:avLst/>
          </a:prstGeom>
          <a:ln w="15240">
            <a:solidFill>
              <a:srgbClr val="6666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5DE4DF7-55B3-2FF9-B4E2-4EA840F8BFD5}"/>
              </a:ext>
            </a:extLst>
          </p:cNvPr>
          <p:cNvCxnSpPr/>
          <p:nvPr/>
        </p:nvCxnSpPr>
        <p:spPr>
          <a:xfrm flipH="1" flipV="1">
            <a:off x="5029200" y="4267200"/>
            <a:ext cx="1651000" cy="762000"/>
          </a:xfrm>
          <a:prstGeom prst="line">
            <a:avLst/>
          </a:prstGeom>
          <a:ln w="15240">
            <a:solidFill>
              <a:srgbClr val="76C75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1BC95847-76C7-76AA-885D-EF53750D67F2}"/>
              </a:ext>
            </a:extLst>
          </p:cNvPr>
          <p:cNvSpPr/>
          <p:nvPr/>
        </p:nvSpPr>
        <p:spPr>
          <a:xfrm>
            <a:off x="6680200" y="1625600"/>
            <a:ext cx="266700" cy="266700"/>
          </a:xfrm>
          <a:prstGeom prst="ellipse">
            <a:avLst/>
          </a:prstGeom>
          <a:solidFill>
            <a:srgbClr val="6DCBF4"/>
          </a:solidFill>
          <a:ln w="1524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BFAAF5D9-97CF-C983-DB99-C7BC37871B64}"/>
              </a:ext>
            </a:extLst>
          </p:cNvPr>
          <p:cNvSpPr/>
          <p:nvPr/>
        </p:nvSpPr>
        <p:spPr>
          <a:xfrm>
            <a:off x="6680200" y="2717800"/>
            <a:ext cx="266700" cy="266700"/>
          </a:xfrm>
          <a:prstGeom prst="ellipse">
            <a:avLst/>
          </a:prstGeom>
          <a:solidFill>
            <a:srgbClr val="EDEDED"/>
          </a:solidFill>
          <a:ln w="1524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D816637A-D516-3274-73CA-C3FA095DC207}"/>
              </a:ext>
            </a:extLst>
          </p:cNvPr>
          <p:cNvSpPr/>
          <p:nvPr/>
        </p:nvSpPr>
        <p:spPr>
          <a:xfrm>
            <a:off x="6680200" y="3810000"/>
            <a:ext cx="266700" cy="266700"/>
          </a:xfrm>
          <a:prstGeom prst="ellipse">
            <a:avLst/>
          </a:prstGeom>
          <a:solidFill>
            <a:srgbClr val="EDEDED"/>
          </a:solidFill>
          <a:ln w="1524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4E7C4929-EEF8-A689-2D3A-0BAE9790897D}"/>
              </a:ext>
            </a:extLst>
          </p:cNvPr>
          <p:cNvSpPr/>
          <p:nvPr/>
        </p:nvSpPr>
        <p:spPr>
          <a:xfrm>
            <a:off x="6680200" y="4902200"/>
            <a:ext cx="266700" cy="266700"/>
          </a:xfrm>
          <a:prstGeom prst="ellipse">
            <a:avLst/>
          </a:prstGeom>
          <a:solidFill>
            <a:srgbClr val="EAF8EE"/>
          </a:solidFill>
          <a:ln w="15240">
            <a:solidFill>
              <a:srgbClr val="76C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9663E7C-CA4E-CDCB-8463-D66D39EE5237}"/>
              </a:ext>
            </a:extLst>
          </p:cNvPr>
          <p:cNvCxnSpPr/>
          <p:nvPr/>
        </p:nvCxnSpPr>
        <p:spPr>
          <a:xfrm>
            <a:off x="9550400" y="2209800"/>
            <a:ext cx="0" cy="279400"/>
          </a:xfrm>
          <a:prstGeom prst="line">
            <a:avLst/>
          </a:prstGeom>
          <a:ln w="1905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B12C510-96CC-6EB6-5AF0-BB87768EB2EA}"/>
              </a:ext>
            </a:extLst>
          </p:cNvPr>
          <p:cNvCxnSpPr/>
          <p:nvPr/>
        </p:nvCxnSpPr>
        <p:spPr>
          <a:xfrm>
            <a:off x="9550400" y="3302000"/>
            <a:ext cx="0" cy="279400"/>
          </a:xfrm>
          <a:prstGeom prst="line">
            <a:avLst/>
          </a:prstGeom>
          <a:ln w="1905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2001BB8-73CD-BDF0-4283-6CC726E9E763}"/>
              </a:ext>
            </a:extLst>
          </p:cNvPr>
          <p:cNvCxnSpPr/>
          <p:nvPr/>
        </p:nvCxnSpPr>
        <p:spPr>
          <a:xfrm>
            <a:off x="9550400" y="4394200"/>
            <a:ext cx="0" cy="279400"/>
          </a:xfrm>
          <a:prstGeom prst="line">
            <a:avLst/>
          </a:prstGeom>
          <a:ln w="1905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814AA80-FE03-73C4-01C4-02B115C0992D}"/>
              </a:ext>
            </a:extLst>
          </p:cNvPr>
          <p:cNvSpPr/>
          <p:nvPr/>
        </p:nvSpPr>
        <p:spPr>
          <a:xfrm>
            <a:off x="7302500" y="1371600"/>
            <a:ext cx="4508500" cy="838200"/>
          </a:xfrm>
          <a:prstGeom prst="rect">
            <a:avLst/>
          </a:prstGeom>
          <a:solidFill>
            <a:srgbClr val="6DCB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FCFED78-EF34-E6EB-B1A3-7C9FB4411E1E}"/>
              </a:ext>
            </a:extLst>
          </p:cNvPr>
          <p:cNvSpPr txBox="1"/>
          <p:nvPr/>
        </p:nvSpPr>
        <p:spPr>
          <a:xfrm>
            <a:off x="7543800" y="15113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① Read bias
WL=VDD</a:t>
            </a:r>
            <a:r>
              <a:rPr lang="zh-TW" altLang="en-US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，</a:t>
            </a:r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BL=BLB=VDD</a:t>
            </a:r>
            <a:endParaRPr lang="zh-TW" altLang="en-US" sz="16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231B7DC-F19D-C784-0184-F08E02C485A1}"/>
              </a:ext>
            </a:extLst>
          </p:cNvPr>
          <p:cNvSpPr/>
          <p:nvPr/>
        </p:nvSpPr>
        <p:spPr>
          <a:xfrm>
            <a:off x="7302500" y="2489200"/>
            <a:ext cx="4508500" cy="8128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6FC8AED-4E3F-B40B-4583-70BBDAA579BB}"/>
              </a:ext>
            </a:extLst>
          </p:cNvPr>
          <p:cNvSpPr txBox="1"/>
          <p:nvPr/>
        </p:nvSpPr>
        <p:spPr>
          <a:xfrm>
            <a:off x="7543800" y="26289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② Current balance
F_R = I_PU − I_PD + I_PG = 0</a:t>
            </a:r>
            <a:endParaRPr lang="zh-TW" altLang="en-US" sz="16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5A46F6-A217-A9F1-20FC-15E9302546C8}"/>
              </a:ext>
            </a:extLst>
          </p:cNvPr>
          <p:cNvSpPr/>
          <p:nvPr/>
        </p:nvSpPr>
        <p:spPr>
          <a:xfrm>
            <a:off x="7302500" y="3581400"/>
            <a:ext cx="4508500" cy="8128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14CC687-9D75-0975-E2F8-BCB17BD990ED}"/>
              </a:ext>
            </a:extLst>
          </p:cNvPr>
          <p:cNvSpPr txBox="1"/>
          <p:nvPr/>
        </p:nvSpPr>
        <p:spPr>
          <a:xfrm>
            <a:off x="7543800" y="3721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③ Solve and mirror
Vout=f_R(Vin)</a:t>
            </a:r>
            <a:r>
              <a:rPr lang="zh-TW" altLang="en-US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，</a:t>
            </a:r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Vout=f_R⁻¹(Vin)</a:t>
            </a:r>
            <a:endParaRPr lang="zh-TW" altLang="en-US" sz="16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7B987E8-16F4-6B6E-091C-D6A5F023F096}"/>
              </a:ext>
            </a:extLst>
          </p:cNvPr>
          <p:cNvSpPr/>
          <p:nvPr/>
        </p:nvSpPr>
        <p:spPr>
          <a:xfrm>
            <a:off x="7302500" y="4673600"/>
            <a:ext cx="4508500" cy="914400"/>
          </a:xfrm>
          <a:prstGeom prst="rect">
            <a:avLst/>
          </a:prstGeom>
          <a:solidFill>
            <a:srgbClr val="EAF8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3322731-8FDD-EE33-B891-79962B4F9BDA}"/>
              </a:ext>
            </a:extLst>
          </p:cNvPr>
          <p:cNvSpPr txBox="1"/>
          <p:nvPr/>
        </p:nvSpPr>
        <p:spPr>
          <a:xfrm>
            <a:off x="7543800" y="48133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7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④ Limiting square
RSNM = min(S_upper</a:t>
            </a:r>
            <a:r>
              <a:rPr lang="zh-TW" altLang="en-US" sz="17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，</a:t>
            </a:r>
            <a:r>
              <a:rPr lang="en-US" altLang="zh-TW" sz="17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S_lower)</a:t>
            </a:r>
            <a:endParaRPr lang="zh-TW" altLang="en-US" sz="17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F14796E-B28E-D141-48A6-F2BD3C4AE894}"/>
              </a:ext>
            </a:extLst>
          </p:cNvPr>
          <p:cNvSpPr txBox="1"/>
          <p:nvPr/>
        </p:nvSpPr>
        <p:spPr>
          <a:xfrm>
            <a:off x="444500" y="5969000"/>
            <a:ext cx="1136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Chart map: ① applies to the whole plot; ② solid VTC; ③ mirrored dashed VTC; ④ eye squares, with cell RSNM set by the smaller side.</a:t>
            </a:r>
            <a:endParaRPr lang="zh-TW" altLang="en-US" sz="1300" b="1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97E49E03-F57C-3DA4-2A08-E7EFDCEB20E9}"/>
              </a:ext>
            </a:extLst>
          </p:cNvPr>
          <p:cNvCxnSpPr/>
          <p:nvPr/>
        </p:nvCxnSpPr>
        <p:spPr>
          <a:xfrm>
            <a:off x="381000" y="6438900"/>
            <a:ext cx="11430000" cy="0"/>
          </a:xfrm>
          <a:prstGeom prst="line">
            <a:avLst/>
          </a:prstGeom>
          <a:ln w="1016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931AC94-E494-ADE6-7909-FF89182FDA33}"/>
              </a:ext>
            </a:extLst>
          </p:cNvPr>
          <p:cNvSpPr txBox="1"/>
          <p:nvPr/>
        </p:nvSpPr>
        <p:spPr>
          <a:xfrm>
            <a:off x="381000" y="6515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HV28 SRAM Analysis · WAT-calibrated trend model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0E7AAEC-8923-D39E-9C17-D759996D8FFB}"/>
              </a:ext>
            </a:extLst>
          </p:cNvPr>
          <p:cNvSpPr txBox="1"/>
          <p:nvPr/>
        </p:nvSpPr>
        <p:spPr>
          <a:xfrm>
            <a:off x="11430000" y="65151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4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880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276F8A8-8368-6E07-E647-28BE59D7FB0D}"/>
              </a:ext>
            </a:extLst>
          </p:cNvPr>
          <p:cNvSpPr txBox="1"/>
          <p:nvPr/>
        </p:nvSpPr>
        <p:spPr>
          <a:xfrm>
            <a:off x="381000" y="254000"/>
            <a:ext cx="1143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31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Write SNM: Write VTCs Define the Square and Trip Boundary</a:t>
            </a:r>
            <a:endParaRPr lang="zh-TW" altLang="en-US" sz="31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13F6CBE2-575C-59DF-B22D-CB67E9745DCB}"/>
              </a:ext>
            </a:extLst>
          </p:cNvPr>
          <p:cNvCxnSpPr/>
          <p:nvPr/>
        </p:nvCxnSpPr>
        <p:spPr>
          <a:xfrm>
            <a:off x="381000" y="1054100"/>
            <a:ext cx="11430000" cy="0"/>
          </a:xfrm>
          <a:prstGeom prst="line">
            <a:avLst/>
          </a:prstGeom>
          <a:ln w="1270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>
            <a:extLst>
              <a:ext uri="{FF2B5EF4-FFF2-40B4-BE49-F238E27FC236}">
                <a16:creationId xmlns:a16="http://schemas.microsoft.com/office/drawing/2014/main" id="{D6CB2C4A-789C-EE78-9E5D-38B1E3BB88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194" y="1371600"/>
            <a:ext cx="4268611" cy="4508500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03F124DD-D62D-55ED-94D2-8A8ED53012FC}"/>
              </a:ext>
            </a:extLst>
          </p:cNvPr>
          <p:cNvCxnSpPr/>
          <p:nvPr/>
        </p:nvCxnSpPr>
        <p:spPr>
          <a:xfrm flipH="1" flipV="1">
            <a:off x="5740400" y="1663700"/>
            <a:ext cx="939800" cy="88900"/>
          </a:xfrm>
          <a:prstGeom prst="line">
            <a:avLst/>
          </a:prstGeom>
          <a:ln w="15240">
            <a:solidFill>
              <a:srgbClr val="3D8D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0A873A3F-09CC-BB9C-F6C2-765397463357}"/>
              </a:ext>
            </a:extLst>
          </p:cNvPr>
          <p:cNvCxnSpPr/>
          <p:nvPr/>
        </p:nvCxnSpPr>
        <p:spPr>
          <a:xfrm flipH="1" flipV="1">
            <a:off x="4775200" y="1727200"/>
            <a:ext cx="1905000" cy="1117600"/>
          </a:xfrm>
          <a:prstGeom prst="line">
            <a:avLst/>
          </a:prstGeom>
          <a:ln w="15240">
            <a:solidFill>
              <a:srgbClr val="6666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6CABE56-BDC8-70B1-5F1C-B7F058233960}"/>
              </a:ext>
            </a:extLst>
          </p:cNvPr>
          <p:cNvCxnSpPr/>
          <p:nvPr/>
        </p:nvCxnSpPr>
        <p:spPr>
          <a:xfrm flipH="1" flipV="1">
            <a:off x="3632200" y="3556000"/>
            <a:ext cx="3048000" cy="381000"/>
          </a:xfrm>
          <a:prstGeom prst="line">
            <a:avLst/>
          </a:prstGeom>
          <a:ln w="15240">
            <a:solidFill>
              <a:srgbClr val="FF8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51939B8-92D8-9AA5-4663-786289F4967F}"/>
              </a:ext>
            </a:extLst>
          </p:cNvPr>
          <p:cNvCxnSpPr/>
          <p:nvPr/>
        </p:nvCxnSpPr>
        <p:spPr>
          <a:xfrm flipH="1" flipV="1">
            <a:off x="2882900" y="4305300"/>
            <a:ext cx="3797300" cy="723900"/>
          </a:xfrm>
          <a:prstGeom prst="line">
            <a:avLst/>
          </a:prstGeom>
          <a:ln w="15240">
            <a:solidFill>
              <a:srgbClr val="FF8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94693DEF-CBCD-FA18-1CCD-2714CC56E8C3}"/>
              </a:ext>
            </a:extLst>
          </p:cNvPr>
          <p:cNvSpPr/>
          <p:nvPr/>
        </p:nvSpPr>
        <p:spPr>
          <a:xfrm>
            <a:off x="6680200" y="1625600"/>
            <a:ext cx="266700" cy="266700"/>
          </a:xfrm>
          <a:prstGeom prst="ellipse">
            <a:avLst/>
          </a:prstGeom>
          <a:solidFill>
            <a:srgbClr val="6DCBF4"/>
          </a:solidFill>
          <a:ln w="1524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7F6D314B-7ACF-B78D-555E-510579A113C8}"/>
              </a:ext>
            </a:extLst>
          </p:cNvPr>
          <p:cNvSpPr/>
          <p:nvPr/>
        </p:nvSpPr>
        <p:spPr>
          <a:xfrm>
            <a:off x="6680200" y="2717800"/>
            <a:ext cx="266700" cy="266700"/>
          </a:xfrm>
          <a:prstGeom prst="ellipse">
            <a:avLst/>
          </a:prstGeom>
          <a:solidFill>
            <a:srgbClr val="EDEDED"/>
          </a:solidFill>
          <a:ln w="1524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C374BB25-4C3A-9116-4B70-6033F73FE86A}"/>
              </a:ext>
            </a:extLst>
          </p:cNvPr>
          <p:cNvSpPr/>
          <p:nvPr/>
        </p:nvSpPr>
        <p:spPr>
          <a:xfrm>
            <a:off x="6680200" y="3810000"/>
            <a:ext cx="266700" cy="266700"/>
          </a:xfrm>
          <a:prstGeom prst="ellipse">
            <a:avLst/>
          </a:prstGeom>
          <a:solidFill>
            <a:srgbClr val="EDEDED"/>
          </a:solidFill>
          <a:ln w="15240">
            <a:solidFill>
              <a:srgbClr val="FF8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167369A-BF30-51C9-17D7-BF4D0FF0CBE5}"/>
              </a:ext>
            </a:extLst>
          </p:cNvPr>
          <p:cNvSpPr/>
          <p:nvPr/>
        </p:nvSpPr>
        <p:spPr>
          <a:xfrm>
            <a:off x="6680200" y="4902200"/>
            <a:ext cx="266700" cy="266700"/>
          </a:xfrm>
          <a:prstGeom prst="ellipse">
            <a:avLst/>
          </a:prstGeom>
          <a:solidFill>
            <a:srgbClr val="EAF2FF"/>
          </a:solidFill>
          <a:ln w="15240">
            <a:solidFill>
              <a:srgbClr val="FF8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b="1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zh-TW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98BC77D-B2C8-5AC7-BC22-1BE29E85997C}"/>
              </a:ext>
            </a:extLst>
          </p:cNvPr>
          <p:cNvCxnSpPr/>
          <p:nvPr/>
        </p:nvCxnSpPr>
        <p:spPr>
          <a:xfrm>
            <a:off x="9550400" y="2209800"/>
            <a:ext cx="0" cy="279400"/>
          </a:xfrm>
          <a:prstGeom prst="line">
            <a:avLst/>
          </a:prstGeom>
          <a:ln w="1905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C138EC1-DFF7-2259-2544-FAD0B6ACA7F9}"/>
              </a:ext>
            </a:extLst>
          </p:cNvPr>
          <p:cNvCxnSpPr/>
          <p:nvPr/>
        </p:nvCxnSpPr>
        <p:spPr>
          <a:xfrm>
            <a:off x="9550400" y="3302000"/>
            <a:ext cx="0" cy="279400"/>
          </a:xfrm>
          <a:prstGeom prst="line">
            <a:avLst/>
          </a:prstGeom>
          <a:ln w="1905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6384153-35EE-CA6B-4046-06EEE0756996}"/>
              </a:ext>
            </a:extLst>
          </p:cNvPr>
          <p:cNvCxnSpPr/>
          <p:nvPr/>
        </p:nvCxnSpPr>
        <p:spPr>
          <a:xfrm>
            <a:off x="9550400" y="4394200"/>
            <a:ext cx="0" cy="279400"/>
          </a:xfrm>
          <a:prstGeom prst="line">
            <a:avLst/>
          </a:prstGeom>
          <a:ln w="19050">
            <a:solidFill>
              <a:srgbClr val="B8BEC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C052EFE0-8049-8E0A-3013-DEB5BD38894A}"/>
              </a:ext>
            </a:extLst>
          </p:cNvPr>
          <p:cNvSpPr/>
          <p:nvPr/>
        </p:nvSpPr>
        <p:spPr>
          <a:xfrm>
            <a:off x="7302500" y="1371600"/>
            <a:ext cx="4508500" cy="838200"/>
          </a:xfrm>
          <a:prstGeom prst="rect">
            <a:avLst/>
          </a:prstGeom>
          <a:solidFill>
            <a:srgbClr val="6DCBF4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34936E6-D0A3-9D2F-756D-436FAC47719D}"/>
              </a:ext>
            </a:extLst>
          </p:cNvPr>
          <p:cNvSpPr txBox="1"/>
          <p:nvPr/>
        </p:nvSpPr>
        <p:spPr>
          <a:xfrm>
            <a:off x="7543800" y="15113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① Write-0 bias
WL=VDD</a:t>
            </a:r>
            <a:r>
              <a:rPr lang="zh-TW" altLang="en-US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，</a:t>
            </a:r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BL=0</a:t>
            </a:r>
            <a:r>
              <a:rPr lang="zh-TW" altLang="en-US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，</a:t>
            </a:r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BLB=VDD</a:t>
            </a:r>
            <a:endParaRPr lang="zh-TW" altLang="en-US" sz="16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F5ED9A-9D57-CD7C-8477-D3218B29D0D0}"/>
              </a:ext>
            </a:extLst>
          </p:cNvPr>
          <p:cNvSpPr/>
          <p:nvPr/>
        </p:nvSpPr>
        <p:spPr>
          <a:xfrm>
            <a:off x="7302500" y="2489200"/>
            <a:ext cx="4508500" cy="8128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4746F6C-BE97-5FEE-9E2B-E1C4345FEF37}"/>
              </a:ext>
            </a:extLst>
          </p:cNvPr>
          <p:cNvSpPr txBox="1"/>
          <p:nvPr/>
        </p:nvSpPr>
        <p:spPr>
          <a:xfrm>
            <a:off x="7543800" y="26289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② Two write VTCs
Vout=f_W(Vin</a:t>
            </a:r>
            <a:r>
              <a:rPr lang="zh-TW" altLang="en-US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；</a:t>
            </a:r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BL / BLB)</a:t>
            </a:r>
            <a:endParaRPr lang="zh-TW" altLang="en-US" sz="16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4A48A6-0A08-3B71-FEAF-A6FC81F1466E}"/>
              </a:ext>
            </a:extLst>
          </p:cNvPr>
          <p:cNvSpPr/>
          <p:nvPr/>
        </p:nvSpPr>
        <p:spPr>
          <a:xfrm>
            <a:off x="7302500" y="3581400"/>
            <a:ext cx="4508500" cy="812800"/>
          </a:xfrm>
          <a:prstGeom prst="rect">
            <a:avLst/>
          </a:prstGeom>
          <a:solidFill>
            <a:srgbClr val="EDEDED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E9F9002-F36E-E5CF-3661-DC76871012EA}"/>
              </a:ext>
            </a:extLst>
          </p:cNvPr>
          <p:cNvSpPr txBox="1"/>
          <p:nvPr/>
        </p:nvSpPr>
        <p:spPr>
          <a:xfrm>
            <a:off x="7543800" y="3721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③ Diagonal crossings
f_low(V_L)=V_L</a:t>
            </a:r>
            <a:r>
              <a:rPr lang="zh-TW" altLang="en-US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，</a:t>
            </a:r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f_high(V_H)=V_H</a:t>
            </a:r>
            <a:endParaRPr lang="zh-TW" altLang="en-US" sz="16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7BB188-86D5-BAA8-9DA0-B4BE61FF52DC}"/>
              </a:ext>
            </a:extLst>
          </p:cNvPr>
          <p:cNvSpPr/>
          <p:nvPr/>
        </p:nvSpPr>
        <p:spPr>
          <a:xfrm>
            <a:off x="7302500" y="4673600"/>
            <a:ext cx="4508500" cy="914400"/>
          </a:xfrm>
          <a:prstGeom prst="rect">
            <a:avLst/>
          </a:prstGeom>
          <a:solidFill>
            <a:srgbClr val="EAF2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8F75362-CE1F-5A32-C001-2268BEA4EDDE}"/>
              </a:ext>
            </a:extLst>
          </p:cNvPr>
          <p:cNvSpPr txBox="1"/>
          <p:nvPr/>
        </p:nvSpPr>
        <p:spPr>
          <a:xfrm>
            <a:off x="7543800" y="47752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④ Write margins
WSNM=V_H−V_L
WSNM(BL_trip)=0</a:t>
            </a:r>
            <a:endParaRPr lang="zh-TW" altLang="en-US" sz="1600" b="1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78E7FC1-9469-4B84-4EFE-7234F24955DB}"/>
              </a:ext>
            </a:extLst>
          </p:cNvPr>
          <p:cNvSpPr txBox="1"/>
          <p:nvPr/>
        </p:nvSpPr>
        <p:spPr>
          <a:xfrm>
            <a:off x="444500" y="5969000"/>
            <a:ext cx="1136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300" b="1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Chart map: ① applies to the whole plot; ② write-VTC pair; ③ diagonal crossing; ④ square side is WSNM, and its closure to zero is Write Trip.</a:t>
            </a:r>
            <a:endParaRPr lang="zh-TW" altLang="en-US" sz="1300" b="1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D4DEC03C-0B19-89F4-B7C6-907BBDF2D591}"/>
              </a:ext>
            </a:extLst>
          </p:cNvPr>
          <p:cNvCxnSpPr/>
          <p:nvPr/>
        </p:nvCxnSpPr>
        <p:spPr>
          <a:xfrm>
            <a:off x="381000" y="6438900"/>
            <a:ext cx="11430000" cy="0"/>
          </a:xfrm>
          <a:prstGeom prst="line">
            <a:avLst/>
          </a:prstGeom>
          <a:ln w="10160">
            <a:solidFill>
              <a:srgbClr val="B8B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E4885B8-41B1-F11B-98BC-2521D1FC7E40}"/>
              </a:ext>
            </a:extLst>
          </p:cNvPr>
          <p:cNvSpPr txBox="1"/>
          <p:nvPr/>
        </p:nvSpPr>
        <p:spPr>
          <a:xfrm>
            <a:off x="381000" y="6515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HV28 SRAM Analysis · WAT-calibrated trend model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B96ABDC-72DE-377E-658E-3EC8F86127DF}"/>
              </a:ext>
            </a:extLst>
          </p:cNvPr>
          <p:cNvSpPr txBox="1"/>
          <p:nvPr/>
        </p:nvSpPr>
        <p:spPr>
          <a:xfrm>
            <a:off x="11430000" y="65151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800">
                <a:solidFill>
                  <a:srgbClr val="666666"/>
                </a:solidFill>
                <a:latin typeface="Arial" panose="020B0604020202020204" pitchFamily="34" charset="0"/>
                <a:ea typeface="Microsoft JhengHei" panose="020B0604030504040204" pitchFamily="34" charset="-120"/>
              </a:rPr>
              <a:t>5</a:t>
            </a:r>
            <a:endParaRPr lang="zh-TW" altLang="en-US" sz="800">
              <a:solidFill>
                <a:srgbClr val="666666"/>
              </a:solidFill>
              <a:latin typeface="Arial" panose="020B0604020202020204" pitchFamily="34" charset="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6587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寬螢幕</PresentationFormat>
  <Paragraphs>71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HA109666@365mak.com</dc:creator>
  <cp:lastModifiedBy>HA109666@365mak.com</cp:lastModifiedBy>
  <cp:revision>2</cp:revision>
  <dcterms:created xsi:type="dcterms:W3CDTF">2026-08-03T16:36:33Z</dcterms:created>
  <dcterms:modified xsi:type="dcterms:W3CDTF">2026-08-03T16:36:38Z</dcterms:modified>
</cp:coreProperties>
</file>