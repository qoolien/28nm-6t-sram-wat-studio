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F6D028A-FFE7-5987-B22A-F18C5C2290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C3C9860C-FCA9-8383-1429-92EBCA07A4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B380860-1FF4-851A-52C0-0AA8A289D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BCCDE-B349-4CE3-8DBB-F013F9119D84}" type="datetimeFigureOut">
              <a:rPr lang="zh-TW" altLang="en-US" smtClean="0"/>
              <a:t>2026-08-04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1A73C51-3CFE-D9CA-ADF7-77207EFF6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47F8605-187B-78EC-C2EC-19D7BD1E2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97BC7-F88B-469A-BC15-9D0AB4287E5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45904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89F7FFE-78D1-EF97-C999-46766D7B1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4958004-D81E-9FD6-0F9D-FB1748E173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0EF61C8-6A3F-9A82-515A-824A9F521C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BCCDE-B349-4CE3-8DBB-F013F9119D84}" type="datetimeFigureOut">
              <a:rPr lang="zh-TW" altLang="en-US" smtClean="0"/>
              <a:t>2026-08-04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521FE45-0705-28A2-20FE-39228D57B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6BE749B-B7B7-56BB-026D-B1B2CB0C8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97BC7-F88B-469A-BC15-9D0AB4287E5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564622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EAE552D-7CA0-2810-F0E6-1778EA6B5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51AD283-FE12-0192-6F7A-39FC20CB35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7131377-531C-7D65-130D-0F2EC10821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BCCDE-B349-4CE3-8DBB-F013F9119D84}" type="datetimeFigureOut">
              <a:rPr lang="zh-TW" altLang="en-US" smtClean="0"/>
              <a:t>2026-08-04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CA23D9F-D3D1-A66C-DC34-DFCF1DA09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22398C9-F9FB-9A55-916F-FEE63FF68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97BC7-F88B-469A-BC15-9D0AB4287E5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5935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944E386-C8DA-818F-6B92-8E3CB829A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ABB5CF5-7FBE-DC73-67FD-D268C99C9C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B9D016B-755E-2E19-A566-03DC325E3A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610785E-BAE0-043E-C9B6-175E31879A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BCCDE-B349-4CE3-8DBB-F013F9119D84}" type="datetimeFigureOut">
              <a:rPr lang="zh-TW" altLang="en-US" smtClean="0"/>
              <a:t>2026-08-04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986A9A2-E281-22EC-63A8-076811784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A53B612-2B59-4190-6D0E-1AE258280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97BC7-F88B-469A-BC15-9D0AB4287E5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02638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139A222-9314-E983-A419-5B8FB4AC9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A8A0AFA-F582-216C-371D-8F8FEC29F4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E438A7E-97C5-1EAA-0C46-3A0C741D83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BC9FC066-042E-1DE3-DA80-DC8B065CBF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7468ECBE-64AD-070B-1D1F-78FF1A0DD5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8C6BD69D-CE22-5453-1FE8-453B6FA34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BCCDE-B349-4CE3-8DBB-F013F9119D84}" type="datetimeFigureOut">
              <a:rPr lang="zh-TW" altLang="en-US" smtClean="0"/>
              <a:t>2026-08-04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8E00E8C3-FBCA-C956-A58A-7FF40B8AC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81D830FF-A364-1652-DB76-F77F47E5B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97BC7-F88B-469A-BC15-9D0AB4287E5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53524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43DD0B4-04ED-2EC3-D95C-E9FD600CB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286554A5-0D29-8CFA-64DF-E04F6F26E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BCCDE-B349-4CE3-8DBB-F013F9119D84}" type="datetimeFigureOut">
              <a:rPr lang="zh-TW" altLang="en-US" smtClean="0"/>
              <a:t>2026-08-04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10209594-865F-926A-AD74-1BF47111A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EECFB8C-A473-EE13-ADB0-70B87C02B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97BC7-F88B-469A-BC15-9D0AB4287E5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61374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96171EBB-741E-A342-5E93-C9BD96157B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BCCDE-B349-4CE3-8DBB-F013F9119D84}" type="datetimeFigureOut">
              <a:rPr lang="zh-TW" altLang="en-US" smtClean="0"/>
              <a:t>2026-08-04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48C5310D-1774-F4D5-E021-2F4B253BC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71077F4-13E8-BF58-05A1-E3ABD0D68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97BC7-F88B-469A-BC15-9D0AB4287E5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946349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8A978ED-333E-36C0-052F-C04A418BA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E983645-E5FC-D784-EE64-1736174BDC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517C081-5BC8-75DE-1D21-40602F7B84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C4EC53D-3301-AEBC-69D4-92DCB7A57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BCCDE-B349-4CE3-8DBB-F013F9119D84}" type="datetimeFigureOut">
              <a:rPr lang="zh-TW" altLang="en-US" smtClean="0"/>
              <a:t>2026-08-04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97C75B6-4940-B77A-C5B0-81765F9DF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FCB8A5D-2D89-38AD-A7D4-732540FFC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97BC7-F88B-469A-BC15-9D0AB4287E5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999368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40E2F6A-1BE4-ADB9-13CF-2515D5445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D4BFF852-64CF-9432-0074-681C3BF785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E11E78A3-7A51-F064-DB9C-E0A1ED5EEC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2A37113-6B92-C0FE-F966-12BC7A97C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BCCDE-B349-4CE3-8DBB-F013F9119D84}" type="datetimeFigureOut">
              <a:rPr lang="zh-TW" altLang="en-US" smtClean="0"/>
              <a:t>2026-08-04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06718B8-56DD-CFFC-0E35-CCB4FD21B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8BAC0E3-168E-C96E-D849-67CA44E0D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97BC7-F88B-469A-BC15-9D0AB4287E5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168221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C7C477F-1264-4E72-DB69-7E42DB87F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0A43A5E2-CD63-4958-A125-94A687A433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8BCD7DC-B8C2-1BDF-2E86-61869C086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BCCDE-B349-4CE3-8DBB-F013F9119D84}" type="datetimeFigureOut">
              <a:rPr lang="zh-TW" altLang="en-US" smtClean="0"/>
              <a:t>2026-08-04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5AA0331-CACD-ABB5-B7F0-1864F1587B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C22561A-F00C-0263-00AF-A3EA4BF0D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97BC7-F88B-469A-BC15-9D0AB4287E5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560116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3F0756FE-6CC4-B4DB-F7F5-A51B528151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E752603F-09AE-01B5-816C-905DADFD7A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495F264-F797-EFF9-2628-4BD196960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BCCDE-B349-4CE3-8DBB-F013F9119D84}" type="datetimeFigureOut">
              <a:rPr lang="zh-TW" altLang="en-US" smtClean="0"/>
              <a:t>2026-08-04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8A9B44E-8E2C-6E36-376B-7E3087DE3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D444385-50EC-EB13-0CC3-5361CB45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97BC7-F88B-469A-BC15-9D0AB4287E5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391877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B75AC3CE-4346-1CC7-2A50-08AD76860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70F27D1-FAD7-DBF8-C35D-443415F3A4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14D65E5-A2E6-4E96-6A28-E00BC26A3A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5BCCDE-B349-4CE3-8DBB-F013F9119D84}" type="datetimeFigureOut">
              <a:rPr lang="zh-TW" altLang="en-US" smtClean="0"/>
              <a:t>2026-08-04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487336E-82B6-9092-8404-99549A3A38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CAD9803-E324-9A57-1DCE-83D4B22A61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A97BC7-F88B-469A-BC15-9D0AB4287E5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87163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66CE93ED-8C62-49AC-EA6F-99288A240507}"/>
              </a:ext>
            </a:extLst>
          </p:cNvPr>
          <p:cNvSpPr txBox="1"/>
          <p:nvPr/>
        </p:nvSpPr>
        <p:spPr>
          <a:xfrm>
            <a:off x="381000" y="355600"/>
            <a:ext cx="520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TW" sz="1300" b="1">
                <a:solidFill>
                  <a:srgbClr val="3D8DFF"/>
                </a:solidFill>
                <a:latin typeface="Arial" panose="020B0604020202020204" pitchFamily="34" charset="0"/>
                <a:ea typeface="Microsoft JhengHei" panose="020B0604030504040204" pitchFamily="34" charset="-120"/>
              </a:rPr>
              <a:t>HV28 SRAM ANALYSIS</a:t>
            </a:r>
            <a:endParaRPr lang="zh-TW" altLang="en-US" sz="1300" b="1">
              <a:solidFill>
                <a:srgbClr val="3D8DFF"/>
              </a:solidFill>
              <a:latin typeface="Arial" panose="020B0604020202020204" pitchFamily="34" charset="0"/>
              <a:ea typeface="Microsoft JhengHei" panose="020B0604030504040204" pitchFamily="34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DF63225B-6059-58D0-BB3F-92C78A9F2F58}"/>
              </a:ext>
            </a:extLst>
          </p:cNvPr>
          <p:cNvSpPr txBox="1"/>
          <p:nvPr/>
        </p:nvSpPr>
        <p:spPr>
          <a:xfrm>
            <a:off x="381000" y="1270000"/>
            <a:ext cx="1041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TW" sz="5000" b="1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WAT </a:t>
            </a:r>
            <a:r>
              <a:rPr lang="zh-TW" altLang="en-US" sz="5000" b="1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電性如何轉成
</a:t>
            </a:r>
            <a:r>
              <a:rPr lang="en-US" altLang="zh-TW" sz="5000" b="1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6T SRAM </a:t>
            </a:r>
            <a:r>
              <a:rPr lang="zh-TW" altLang="en-US" sz="5000" b="1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穩定度指標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8D06854-B56A-5064-2908-D4225C787228}"/>
              </a:ext>
            </a:extLst>
          </p:cNvPr>
          <p:cNvSpPr txBox="1"/>
          <p:nvPr/>
        </p:nvSpPr>
        <p:spPr>
          <a:xfrm>
            <a:off x="381000" y="2984500"/>
            <a:ext cx="939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TW" altLang="en-US" sz="2000">
                <a:solidFill>
                  <a:srgbClr val="6666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只保留目前模型真正使用的公式、元件關係與最終判讀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B6461E8-55D1-A6C0-5002-C7A10D9ABB87}"/>
              </a:ext>
            </a:extLst>
          </p:cNvPr>
          <p:cNvSpPr/>
          <p:nvPr/>
        </p:nvSpPr>
        <p:spPr>
          <a:xfrm>
            <a:off x="381000" y="4191000"/>
            <a:ext cx="1841500" cy="1168400"/>
          </a:xfrm>
          <a:prstGeom prst="rect">
            <a:avLst/>
          </a:prstGeom>
          <a:solidFill>
            <a:srgbClr val="EDEDED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FFFFFF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724CABDE-ECFD-8F86-E5F1-009DC53199E5}"/>
              </a:ext>
            </a:extLst>
          </p:cNvPr>
          <p:cNvSpPr txBox="1"/>
          <p:nvPr/>
        </p:nvSpPr>
        <p:spPr>
          <a:xfrm>
            <a:off x="508000" y="4445000"/>
            <a:ext cx="1587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TW" sz="150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WAT </a:t>
            </a:r>
            <a:r>
              <a:rPr lang="zh-TW" altLang="en-US" sz="150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輸入
</a:t>
            </a:r>
            <a:r>
              <a:rPr lang="en-US" altLang="zh-TW" sz="150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Vt / Idsat</a:t>
            </a:r>
            <a:endParaRPr lang="zh-TW" altLang="en-US" sz="1500">
              <a:solidFill>
                <a:srgbClr val="00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cxnSp>
        <p:nvCxnSpPr>
          <p:cNvPr id="7" name="直線接點 6">
            <a:extLst>
              <a:ext uri="{FF2B5EF4-FFF2-40B4-BE49-F238E27FC236}">
                <a16:creationId xmlns:a16="http://schemas.microsoft.com/office/drawing/2014/main" id="{7D79E4AA-1104-E6CF-2E4F-ED43C44F6723}"/>
              </a:ext>
            </a:extLst>
          </p:cNvPr>
          <p:cNvCxnSpPr/>
          <p:nvPr/>
        </p:nvCxnSpPr>
        <p:spPr>
          <a:xfrm>
            <a:off x="2260600" y="4775200"/>
            <a:ext cx="355600" cy="0"/>
          </a:xfrm>
          <a:prstGeom prst="line">
            <a:avLst/>
          </a:prstGeom>
          <a:ln w="25400">
            <a:solidFill>
              <a:srgbClr val="B8BEC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>
            <a:extLst>
              <a:ext uri="{FF2B5EF4-FFF2-40B4-BE49-F238E27FC236}">
                <a16:creationId xmlns:a16="http://schemas.microsoft.com/office/drawing/2014/main" id="{FC7DB2B8-C25D-45D8-B94C-80F598CC16E9}"/>
              </a:ext>
            </a:extLst>
          </p:cNvPr>
          <p:cNvSpPr/>
          <p:nvPr/>
        </p:nvSpPr>
        <p:spPr>
          <a:xfrm>
            <a:off x="2667000" y="4191000"/>
            <a:ext cx="1841500" cy="1168400"/>
          </a:xfrm>
          <a:prstGeom prst="rect">
            <a:avLst/>
          </a:prstGeom>
          <a:solidFill>
            <a:srgbClr val="EDEDED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FFFFFF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EEB2B8A8-C481-C123-860D-D62EC72C96FC}"/>
              </a:ext>
            </a:extLst>
          </p:cNvPr>
          <p:cNvSpPr txBox="1"/>
          <p:nvPr/>
        </p:nvSpPr>
        <p:spPr>
          <a:xfrm>
            <a:off x="2794000" y="4445000"/>
            <a:ext cx="1587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TW" altLang="en-US" sz="150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驅動能力
</a:t>
            </a:r>
            <a:r>
              <a:rPr lang="en-US" altLang="zh-TW" sz="150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β </a:t>
            </a:r>
            <a:r>
              <a:rPr lang="zh-TW" altLang="en-US" sz="150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校正</a:t>
            </a:r>
          </a:p>
        </p:txBody>
      </p:sp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4C9A15DE-D773-ABBA-DCED-B8ADBE77F7E0}"/>
              </a:ext>
            </a:extLst>
          </p:cNvPr>
          <p:cNvCxnSpPr/>
          <p:nvPr/>
        </p:nvCxnSpPr>
        <p:spPr>
          <a:xfrm>
            <a:off x="4546600" y="4775200"/>
            <a:ext cx="355600" cy="0"/>
          </a:xfrm>
          <a:prstGeom prst="line">
            <a:avLst/>
          </a:prstGeom>
          <a:ln w="25400">
            <a:solidFill>
              <a:srgbClr val="B8BEC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>
            <a:extLst>
              <a:ext uri="{FF2B5EF4-FFF2-40B4-BE49-F238E27FC236}">
                <a16:creationId xmlns:a16="http://schemas.microsoft.com/office/drawing/2014/main" id="{8EC38E81-7A77-C53D-FBC1-964E7FE86F60}"/>
              </a:ext>
            </a:extLst>
          </p:cNvPr>
          <p:cNvSpPr/>
          <p:nvPr/>
        </p:nvSpPr>
        <p:spPr>
          <a:xfrm>
            <a:off x="4953000" y="4191000"/>
            <a:ext cx="1841500" cy="1168400"/>
          </a:xfrm>
          <a:prstGeom prst="rect">
            <a:avLst/>
          </a:prstGeom>
          <a:solidFill>
            <a:srgbClr val="6DCBF4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FFFFFF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7E61F232-6B8E-A39A-63E4-652CF56C1B0A}"/>
              </a:ext>
            </a:extLst>
          </p:cNvPr>
          <p:cNvSpPr txBox="1"/>
          <p:nvPr/>
        </p:nvSpPr>
        <p:spPr>
          <a:xfrm>
            <a:off x="5080000" y="4445000"/>
            <a:ext cx="1587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TW" sz="150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6T </a:t>
            </a:r>
            <a:r>
              <a:rPr lang="zh-TW" altLang="en-US" sz="150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元件競爭
</a:t>
            </a:r>
            <a:r>
              <a:rPr lang="en-US" altLang="zh-TW" sz="150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PU / PG / PD</a:t>
            </a:r>
            <a:endParaRPr lang="zh-TW" altLang="en-US" sz="1500">
              <a:solidFill>
                <a:srgbClr val="00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cxnSp>
        <p:nvCxnSpPr>
          <p:cNvPr id="13" name="直線接點 12">
            <a:extLst>
              <a:ext uri="{FF2B5EF4-FFF2-40B4-BE49-F238E27FC236}">
                <a16:creationId xmlns:a16="http://schemas.microsoft.com/office/drawing/2014/main" id="{A72DBA74-68E9-CED4-72B3-1C633EF06A13}"/>
              </a:ext>
            </a:extLst>
          </p:cNvPr>
          <p:cNvCxnSpPr/>
          <p:nvPr/>
        </p:nvCxnSpPr>
        <p:spPr>
          <a:xfrm>
            <a:off x="6832600" y="4775200"/>
            <a:ext cx="355600" cy="0"/>
          </a:xfrm>
          <a:prstGeom prst="line">
            <a:avLst/>
          </a:prstGeom>
          <a:ln w="25400">
            <a:solidFill>
              <a:srgbClr val="B8BEC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>
            <a:extLst>
              <a:ext uri="{FF2B5EF4-FFF2-40B4-BE49-F238E27FC236}">
                <a16:creationId xmlns:a16="http://schemas.microsoft.com/office/drawing/2014/main" id="{937B6B28-21B2-646E-C183-44517416E1DB}"/>
              </a:ext>
            </a:extLst>
          </p:cNvPr>
          <p:cNvSpPr/>
          <p:nvPr/>
        </p:nvSpPr>
        <p:spPr>
          <a:xfrm>
            <a:off x="7239000" y="4191000"/>
            <a:ext cx="1841500" cy="1168400"/>
          </a:xfrm>
          <a:prstGeom prst="rect">
            <a:avLst/>
          </a:prstGeom>
          <a:solidFill>
            <a:srgbClr val="6DCBF4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FFFFFF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2B046AE5-D74B-385F-397F-CB8C8C7C2FD0}"/>
              </a:ext>
            </a:extLst>
          </p:cNvPr>
          <p:cNvSpPr txBox="1"/>
          <p:nvPr/>
        </p:nvSpPr>
        <p:spPr>
          <a:xfrm>
            <a:off x="7366000" y="4445000"/>
            <a:ext cx="1587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TW" sz="150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Inverter VTC
Vin → Vout</a:t>
            </a:r>
            <a:endParaRPr lang="zh-TW" altLang="en-US" sz="1500">
              <a:solidFill>
                <a:srgbClr val="00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05583106-BFC5-3CBF-1BA2-6C2638F7C64F}"/>
              </a:ext>
            </a:extLst>
          </p:cNvPr>
          <p:cNvCxnSpPr/>
          <p:nvPr/>
        </p:nvCxnSpPr>
        <p:spPr>
          <a:xfrm>
            <a:off x="9118600" y="4775200"/>
            <a:ext cx="355600" cy="0"/>
          </a:xfrm>
          <a:prstGeom prst="line">
            <a:avLst/>
          </a:prstGeom>
          <a:ln w="25400">
            <a:solidFill>
              <a:srgbClr val="B8BEC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>
            <a:extLst>
              <a:ext uri="{FF2B5EF4-FFF2-40B4-BE49-F238E27FC236}">
                <a16:creationId xmlns:a16="http://schemas.microsoft.com/office/drawing/2014/main" id="{57DD4FFB-C643-C3EE-A341-5B1B35E0FBCD}"/>
              </a:ext>
            </a:extLst>
          </p:cNvPr>
          <p:cNvSpPr/>
          <p:nvPr/>
        </p:nvSpPr>
        <p:spPr>
          <a:xfrm>
            <a:off x="9525000" y="4191000"/>
            <a:ext cx="1841500" cy="1168400"/>
          </a:xfrm>
          <a:prstGeom prst="rect">
            <a:avLst/>
          </a:prstGeom>
          <a:solidFill>
            <a:srgbClr val="3D8DFF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FFFFFF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361D782F-5369-6945-DC79-A460FD6D1F0C}"/>
              </a:ext>
            </a:extLst>
          </p:cNvPr>
          <p:cNvSpPr txBox="1"/>
          <p:nvPr/>
        </p:nvSpPr>
        <p:spPr>
          <a:xfrm>
            <a:off x="9652000" y="4445000"/>
            <a:ext cx="1587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TW" sz="1500" b="1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Ratio </a:t>
            </a:r>
            <a:r>
              <a:rPr lang="zh-TW" altLang="en-US" sz="1500" b="1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與 </a:t>
            </a:r>
            <a:r>
              <a:rPr lang="en-US" altLang="zh-TW" sz="1500" b="1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SNM
</a:t>
            </a:r>
            <a:r>
              <a:rPr lang="zh-TW" altLang="en-US" sz="1500" b="1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穩定度判讀</a:t>
            </a: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65B376FD-2744-DEDE-4331-400A3C5D539C}"/>
              </a:ext>
            </a:extLst>
          </p:cNvPr>
          <p:cNvSpPr txBox="1"/>
          <p:nvPr/>
        </p:nvSpPr>
        <p:spPr>
          <a:xfrm>
            <a:off x="381000" y="5702300"/>
            <a:ext cx="11176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TW" altLang="en-US" sz="1600" b="1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用途：比較 </a:t>
            </a:r>
            <a:r>
              <a:rPr lang="en-US" altLang="zh-TW" sz="1600" b="1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Lot/Wafer </a:t>
            </a:r>
            <a:r>
              <a:rPr lang="zh-TW" altLang="en-US" sz="1600" b="1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與 </a:t>
            </a:r>
            <a:r>
              <a:rPr lang="en-US" altLang="zh-TW" sz="1600" b="1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WAT Target </a:t>
            </a:r>
            <a:r>
              <a:rPr lang="zh-TW" altLang="en-US" sz="1600" b="1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的趨勢；不是 </a:t>
            </a:r>
            <a:r>
              <a:rPr lang="en-US" altLang="zh-TW" sz="1600" b="1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PDK / BSIM sign-off </a:t>
            </a:r>
            <a:r>
              <a:rPr lang="zh-TW" altLang="en-US" sz="1600" b="1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模型。</a:t>
            </a:r>
          </a:p>
        </p:txBody>
      </p: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51697D76-891C-038B-A77A-2A30C58EB2A4}"/>
              </a:ext>
            </a:extLst>
          </p:cNvPr>
          <p:cNvCxnSpPr/>
          <p:nvPr/>
        </p:nvCxnSpPr>
        <p:spPr>
          <a:xfrm>
            <a:off x="381000" y="6438900"/>
            <a:ext cx="11430000" cy="0"/>
          </a:xfrm>
          <a:prstGeom prst="line">
            <a:avLst/>
          </a:prstGeom>
          <a:ln w="10160">
            <a:solidFill>
              <a:srgbClr val="B8BE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F20B81FA-2FFF-EE7D-23C3-7F5D364D186E}"/>
              </a:ext>
            </a:extLst>
          </p:cNvPr>
          <p:cNvSpPr txBox="1"/>
          <p:nvPr/>
        </p:nvSpPr>
        <p:spPr>
          <a:xfrm>
            <a:off x="381000" y="6515100"/>
            <a:ext cx="508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TW" sz="800">
                <a:solidFill>
                  <a:srgbClr val="6666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HV28 SRAM Analysis · WAT-calibrated trend model</a:t>
            </a:r>
            <a:endParaRPr lang="zh-TW" altLang="en-US" sz="800">
              <a:solidFill>
                <a:srgbClr val="6666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10495AF8-8A07-465B-7D8D-3BB677ED8C42}"/>
              </a:ext>
            </a:extLst>
          </p:cNvPr>
          <p:cNvSpPr txBox="1"/>
          <p:nvPr/>
        </p:nvSpPr>
        <p:spPr>
          <a:xfrm>
            <a:off x="11430000" y="6515100"/>
            <a:ext cx="38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zh-TW" sz="800">
                <a:solidFill>
                  <a:srgbClr val="666666"/>
                </a:solidFill>
                <a:latin typeface="Arial" panose="020B0604020202020204" pitchFamily="34" charset="0"/>
                <a:ea typeface="Microsoft JhengHei" panose="020B0604030504040204" pitchFamily="34" charset="-120"/>
              </a:rPr>
              <a:t>1</a:t>
            </a:r>
            <a:endParaRPr lang="zh-TW" altLang="en-US" sz="800">
              <a:solidFill>
                <a:srgbClr val="666666"/>
              </a:solidFill>
              <a:latin typeface="Arial" panose="020B0604020202020204" pitchFamily="34" charset="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943151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157FF841-E684-D093-83F5-0A4B72C441B7}"/>
              </a:ext>
            </a:extLst>
          </p:cNvPr>
          <p:cNvSpPr txBox="1"/>
          <p:nvPr/>
        </p:nvSpPr>
        <p:spPr>
          <a:xfrm>
            <a:off x="381000" y="254000"/>
            <a:ext cx="1143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TW" sz="3500" b="1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Idsat </a:t>
            </a:r>
            <a:r>
              <a:rPr lang="zh-TW" altLang="en-US" sz="3500" b="1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校正建立在飽和區；完整 </a:t>
            </a:r>
            <a:r>
              <a:rPr lang="en-US" altLang="zh-TW" sz="3500" b="1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VTC </a:t>
            </a:r>
            <a:r>
              <a:rPr lang="zh-TW" altLang="en-US" sz="3500" b="1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則跨越兩區</a:t>
            </a:r>
          </a:p>
        </p:txBody>
      </p:sp>
      <p:cxnSp>
        <p:nvCxnSpPr>
          <p:cNvPr id="3" name="直線接點 2">
            <a:extLst>
              <a:ext uri="{FF2B5EF4-FFF2-40B4-BE49-F238E27FC236}">
                <a16:creationId xmlns:a16="http://schemas.microsoft.com/office/drawing/2014/main" id="{7E5935DC-FBF7-472E-B44F-5ABE0805B759}"/>
              </a:ext>
            </a:extLst>
          </p:cNvPr>
          <p:cNvCxnSpPr/>
          <p:nvPr/>
        </p:nvCxnSpPr>
        <p:spPr>
          <a:xfrm>
            <a:off x="381000" y="1054100"/>
            <a:ext cx="11430000" cy="0"/>
          </a:xfrm>
          <a:prstGeom prst="line">
            <a:avLst/>
          </a:prstGeom>
          <a:ln w="12700">
            <a:solidFill>
              <a:srgbClr val="B8BE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圖片 4">
            <a:extLst>
              <a:ext uri="{FF2B5EF4-FFF2-40B4-BE49-F238E27FC236}">
                <a16:creationId xmlns:a16="http://schemas.microsoft.com/office/drawing/2014/main" id="{5A798F0D-830B-E150-518F-F56FB2997D4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500" y="1610582"/>
            <a:ext cx="6350000" cy="4068636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F424B273-45E9-7843-FEBE-72DC947B3C20}"/>
              </a:ext>
            </a:extLst>
          </p:cNvPr>
          <p:cNvSpPr/>
          <p:nvPr/>
        </p:nvSpPr>
        <p:spPr>
          <a:xfrm>
            <a:off x="7302500" y="1460500"/>
            <a:ext cx="4508500" cy="1320800"/>
          </a:xfrm>
          <a:prstGeom prst="rect">
            <a:avLst/>
          </a:prstGeom>
          <a:solidFill>
            <a:srgbClr val="6DCBF4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FFFFFF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B1E0F9F4-ABF3-7144-1C1D-43AA699AED2C}"/>
              </a:ext>
            </a:extLst>
          </p:cNvPr>
          <p:cNvSpPr txBox="1"/>
          <p:nvPr/>
        </p:nvSpPr>
        <p:spPr>
          <a:xfrm>
            <a:off x="7594600" y="1676400"/>
            <a:ext cx="393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TW" b="1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WAT </a:t>
            </a:r>
            <a:r>
              <a:rPr lang="zh-TW" altLang="en-US" b="1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校正點：飽和區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7ADC7B6F-850F-0EC8-5D23-EBF22F6B16DC}"/>
              </a:ext>
            </a:extLst>
          </p:cNvPr>
          <p:cNvSpPr txBox="1"/>
          <p:nvPr/>
        </p:nvSpPr>
        <p:spPr>
          <a:xfrm>
            <a:off x="7594600" y="2133600"/>
            <a:ext cx="393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TW" sz="2200" b="1">
                <a:solidFill>
                  <a:srgbClr val="00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</a:rPr>
              <a:t>Idsat = ½</a:t>
            </a:r>
            <a:r>
              <a:rPr lang="el-GR" altLang="zh-TW" sz="2200" b="1">
                <a:solidFill>
                  <a:srgbClr val="00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</a:rPr>
              <a:t>β(</a:t>
            </a:r>
            <a:r>
              <a:rPr lang="en-US" altLang="zh-TW" sz="2200" b="1">
                <a:solidFill>
                  <a:srgbClr val="00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</a:rPr>
              <a:t>VGS − Vt)²</a:t>
            </a:r>
            <a:endParaRPr lang="zh-TW" altLang="en-US" sz="2200" b="1">
              <a:solidFill>
                <a:srgbClr val="000000"/>
              </a:solidFill>
              <a:latin typeface="Times New Roman" panose="02020603050405020304" pitchFamily="18" charset="0"/>
              <a:ea typeface="Microsoft JhengHei" panose="020B0604030504040204" pitchFamily="34" charset="-12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1B67905D-7D15-F0CC-EC87-7749099FB0DD}"/>
              </a:ext>
            </a:extLst>
          </p:cNvPr>
          <p:cNvSpPr txBox="1"/>
          <p:nvPr/>
        </p:nvSpPr>
        <p:spPr>
          <a:xfrm>
            <a:off x="7594600" y="2501900"/>
            <a:ext cx="393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TW" altLang="en-US" sz="1300">
                <a:solidFill>
                  <a:srgbClr val="666666"/>
                </a:solidFill>
                <a:latin typeface="Times New Roman" panose="02020603050405020304" pitchFamily="18" charset="0"/>
                <a:ea typeface="Microsoft JhengHei" panose="020B0604030504040204" pitchFamily="34" charset="-120"/>
              </a:rPr>
              <a:t>條件：</a:t>
            </a:r>
            <a:r>
              <a:rPr lang="en-US" altLang="zh-TW" sz="1300">
                <a:solidFill>
                  <a:srgbClr val="666666"/>
                </a:solidFill>
                <a:latin typeface="Times New Roman" panose="02020603050405020304" pitchFamily="18" charset="0"/>
                <a:ea typeface="Microsoft JhengHei" panose="020B0604030504040204" pitchFamily="34" charset="-120"/>
              </a:rPr>
              <a:t>VDS ≥ VGS − Vt</a:t>
            </a:r>
            <a:r>
              <a:rPr lang="zh-TW" altLang="en-US" sz="1300">
                <a:solidFill>
                  <a:srgbClr val="666666"/>
                </a:solidFill>
                <a:latin typeface="Times New Roman" panose="02020603050405020304" pitchFamily="18" charset="0"/>
                <a:ea typeface="Microsoft JhengHei" panose="020B0604030504040204" pitchFamily="34" charset="-120"/>
              </a:rPr>
              <a:t>；</a:t>
            </a:r>
            <a:r>
              <a:rPr lang="en-US" altLang="zh-TW" sz="1300">
                <a:solidFill>
                  <a:srgbClr val="666666"/>
                </a:solidFill>
                <a:latin typeface="Times New Roman" panose="02020603050405020304" pitchFamily="18" charset="0"/>
                <a:ea typeface="Microsoft JhengHei" panose="020B0604030504040204" pitchFamily="34" charset="-120"/>
              </a:rPr>
              <a:t>VGS = V_WAT</a:t>
            </a:r>
            <a:endParaRPr lang="zh-TW" altLang="en-US" sz="1300">
              <a:solidFill>
                <a:srgbClr val="666666"/>
              </a:solidFill>
              <a:latin typeface="Times New Roman" panose="02020603050405020304" pitchFamily="18" charset="0"/>
              <a:ea typeface="Microsoft JhengHei" panose="020B0604030504040204" pitchFamily="34" charset="-12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F4E855D-0D07-E6C2-B3B4-7224F003CEDF}"/>
              </a:ext>
            </a:extLst>
          </p:cNvPr>
          <p:cNvSpPr/>
          <p:nvPr/>
        </p:nvSpPr>
        <p:spPr>
          <a:xfrm>
            <a:off x="7302500" y="3022600"/>
            <a:ext cx="4508500" cy="1676400"/>
          </a:xfrm>
          <a:prstGeom prst="rect">
            <a:avLst/>
          </a:prstGeom>
          <a:solidFill>
            <a:srgbClr val="EDEDED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FFFFFF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825288FC-676D-7CB3-1A71-C9F8CA2DD7DB}"/>
              </a:ext>
            </a:extLst>
          </p:cNvPr>
          <p:cNvSpPr txBox="1"/>
          <p:nvPr/>
        </p:nvSpPr>
        <p:spPr>
          <a:xfrm>
            <a:off x="7594600" y="3238500"/>
            <a:ext cx="393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TW" altLang="en-US" b="1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完整 </a:t>
            </a:r>
            <a:r>
              <a:rPr lang="en-US" altLang="zh-TW" b="1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VTC</a:t>
            </a:r>
            <a:r>
              <a:rPr lang="zh-TW" altLang="en-US" b="1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：依工作區切換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0A531BCA-17AE-B166-1296-BE09FFC51F4B}"/>
              </a:ext>
            </a:extLst>
          </p:cNvPr>
          <p:cNvSpPr txBox="1"/>
          <p:nvPr/>
        </p:nvSpPr>
        <p:spPr>
          <a:xfrm>
            <a:off x="7594600" y="3695700"/>
            <a:ext cx="393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TW" altLang="en-US" sz="1700">
                <a:solidFill>
                  <a:srgbClr val="00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</a:rPr>
              <a:t>線性區：</a:t>
            </a:r>
            <a:r>
              <a:rPr lang="el-GR" altLang="zh-TW" sz="1700">
                <a:solidFill>
                  <a:srgbClr val="00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</a:rPr>
              <a:t>β[(</a:t>
            </a:r>
            <a:r>
              <a:rPr lang="en-US" altLang="zh-TW" sz="1700">
                <a:solidFill>
                  <a:srgbClr val="00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</a:rPr>
              <a:t>VGS−Vt)VDS − ½VDS²]
</a:t>
            </a:r>
            <a:r>
              <a:rPr lang="zh-TW" altLang="en-US" sz="1700">
                <a:solidFill>
                  <a:srgbClr val="00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</a:rPr>
              <a:t>飽和區：</a:t>
            </a:r>
            <a:r>
              <a:rPr lang="en-US" altLang="zh-TW" sz="1700">
                <a:solidFill>
                  <a:srgbClr val="00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</a:rPr>
              <a:t>½</a:t>
            </a:r>
            <a:r>
              <a:rPr lang="el-GR" altLang="zh-TW" sz="1700">
                <a:solidFill>
                  <a:srgbClr val="00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</a:rPr>
              <a:t>β(</a:t>
            </a:r>
            <a:r>
              <a:rPr lang="en-US" altLang="zh-TW" sz="1700">
                <a:solidFill>
                  <a:srgbClr val="00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</a:rPr>
              <a:t>VGS−Vt)²</a:t>
            </a:r>
            <a:endParaRPr lang="zh-TW" altLang="en-US" sz="1700">
              <a:solidFill>
                <a:srgbClr val="000000"/>
              </a:solidFill>
              <a:latin typeface="Times New Roman" panose="02020603050405020304" pitchFamily="18" charset="0"/>
              <a:ea typeface="Microsoft JhengHei" panose="020B0604030504040204" pitchFamily="34" charset="-120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DDA2E3DA-4BEA-231E-AD62-F82DFD7EF462}"/>
              </a:ext>
            </a:extLst>
          </p:cNvPr>
          <p:cNvSpPr txBox="1"/>
          <p:nvPr/>
        </p:nvSpPr>
        <p:spPr>
          <a:xfrm>
            <a:off x="7594600" y="4381500"/>
            <a:ext cx="393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TW" altLang="en-US" sz="1200">
                <a:solidFill>
                  <a:srgbClr val="6666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每個 </a:t>
            </a:r>
            <a:r>
              <a:rPr lang="en-US" altLang="zh-TW" sz="1200">
                <a:solidFill>
                  <a:srgbClr val="6666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Vin </a:t>
            </a:r>
            <a:r>
              <a:rPr lang="zh-TW" altLang="en-US" sz="1200">
                <a:solidFill>
                  <a:srgbClr val="6666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都重新判斷 </a:t>
            </a:r>
            <a:r>
              <a:rPr lang="en-US" altLang="zh-TW" sz="1200">
                <a:solidFill>
                  <a:srgbClr val="6666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PU / PG / PD </a:t>
            </a:r>
            <a:r>
              <a:rPr lang="zh-TW" altLang="en-US" sz="1200">
                <a:solidFill>
                  <a:srgbClr val="6666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工作區。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AC48D05-DA17-95A7-9997-2C47E36343C8}"/>
              </a:ext>
            </a:extLst>
          </p:cNvPr>
          <p:cNvSpPr/>
          <p:nvPr/>
        </p:nvSpPr>
        <p:spPr>
          <a:xfrm>
            <a:off x="7302500" y="4940300"/>
            <a:ext cx="4508500" cy="927100"/>
          </a:xfrm>
          <a:prstGeom prst="rect">
            <a:avLst/>
          </a:prstGeom>
          <a:solidFill>
            <a:srgbClr val="EAF8EE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FFFFFF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3B0CBB59-FFD0-FB2A-758F-526FA7D256E4}"/>
              </a:ext>
            </a:extLst>
          </p:cNvPr>
          <p:cNvSpPr txBox="1"/>
          <p:nvPr/>
        </p:nvSpPr>
        <p:spPr>
          <a:xfrm>
            <a:off x="7594600" y="5105400"/>
            <a:ext cx="393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TW" altLang="en-US" sz="1600" b="1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所以：校正公式用飽和區；
</a:t>
            </a:r>
            <a:r>
              <a:rPr lang="en-US" altLang="zh-TW" sz="1600" b="1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VTC </a:t>
            </a:r>
            <a:r>
              <a:rPr lang="zh-TW" altLang="en-US" sz="1600" b="1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與 </a:t>
            </a:r>
            <a:r>
              <a:rPr lang="en-US" altLang="zh-TW" sz="1600" b="1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SNM </a:t>
            </a:r>
            <a:r>
              <a:rPr lang="zh-TW" altLang="en-US" sz="1600" b="1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並非全程飽和。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8FECBCBA-B687-88F7-3BD7-63DB06432CE9}"/>
              </a:ext>
            </a:extLst>
          </p:cNvPr>
          <p:cNvSpPr txBox="1"/>
          <p:nvPr/>
        </p:nvSpPr>
        <p:spPr>
          <a:xfrm>
            <a:off x="444500" y="5994400"/>
            <a:ext cx="1136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zh-TW" altLang="en-US" sz="1200">
                <a:solidFill>
                  <a:srgbClr val="6666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圖中示例：</a:t>
            </a:r>
            <a:r>
              <a:rPr lang="en-US" altLang="zh-TW" sz="1200">
                <a:solidFill>
                  <a:srgbClr val="6666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Vt=0.30 V</a:t>
            </a:r>
            <a:r>
              <a:rPr lang="zh-TW" altLang="en-US" sz="1200">
                <a:solidFill>
                  <a:srgbClr val="6666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、</a:t>
            </a:r>
            <a:r>
              <a:rPr lang="en-US" altLang="zh-TW" sz="1200">
                <a:solidFill>
                  <a:srgbClr val="6666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Idsat@VGS=0.90 V=45 μA</a:t>
            </a:r>
            <a:r>
              <a:rPr lang="zh-TW" altLang="en-US" sz="1200">
                <a:solidFill>
                  <a:srgbClr val="6666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；僅用來說明校正邏輯。</a:t>
            </a:r>
          </a:p>
        </p:txBody>
      </p: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id="{D8795B64-C3C0-D566-0AF8-2B5391B356E8}"/>
              </a:ext>
            </a:extLst>
          </p:cNvPr>
          <p:cNvCxnSpPr/>
          <p:nvPr/>
        </p:nvCxnSpPr>
        <p:spPr>
          <a:xfrm>
            <a:off x="381000" y="6438900"/>
            <a:ext cx="11430000" cy="0"/>
          </a:xfrm>
          <a:prstGeom prst="line">
            <a:avLst/>
          </a:prstGeom>
          <a:ln w="10160">
            <a:solidFill>
              <a:srgbClr val="B8BE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45862EBD-BC8D-AF6F-96D5-100E8E0817F6}"/>
              </a:ext>
            </a:extLst>
          </p:cNvPr>
          <p:cNvSpPr txBox="1"/>
          <p:nvPr/>
        </p:nvSpPr>
        <p:spPr>
          <a:xfrm>
            <a:off x="381000" y="6515100"/>
            <a:ext cx="508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TW" sz="800">
                <a:solidFill>
                  <a:srgbClr val="6666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HV28 SRAM Analysis · WAT-calibrated trend model</a:t>
            </a:r>
            <a:endParaRPr lang="zh-TW" altLang="en-US" sz="800">
              <a:solidFill>
                <a:srgbClr val="6666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14CE4BBB-D429-4983-3874-7601C0BF0191}"/>
              </a:ext>
            </a:extLst>
          </p:cNvPr>
          <p:cNvSpPr txBox="1"/>
          <p:nvPr/>
        </p:nvSpPr>
        <p:spPr>
          <a:xfrm>
            <a:off x="11430000" y="6515100"/>
            <a:ext cx="38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zh-TW" sz="800">
                <a:solidFill>
                  <a:srgbClr val="666666"/>
                </a:solidFill>
                <a:latin typeface="Arial" panose="020B0604020202020204" pitchFamily="34" charset="0"/>
                <a:ea typeface="Microsoft JhengHei" panose="020B0604030504040204" pitchFamily="34" charset="-120"/>
              </a:rPr>
              <a:t>2</a:t>
            </a:r>
            <a:endParaRPr lang="zh-TW" altLang="en-US" sz="800">
              <a:solidFill>
                <a:srgbClr val="666666"/>
              </a:solidFill>
              <a:latin typeface="Arial" panose="020B0604020202020204" pitchFamily="34" charset="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797325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2DB641D2-C69A-33F8-C14B-2387EA7EB871}"/>
              </a:ext>
            </a:extLst>
          </p:cNvPr>
          <p:cNvSpPr txBox="1"/>
          <p:nvPr/>
        </p:nvSpPr>
        <p:spPr>
          <a:xfrm>
            <a:off x="381000" y="254000"/>
            <a:ext cx="1143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TW" sz="3500" b="1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Cell Ratio </a:t>
            </a:r>
            <a:r>
              <a:rPr lang="zh-TW" altLang="en-US" sz="3500" b="1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與 </a:t>
            </a:r>
            <a:r>
              <a:rPr lang="en-US" altLang="zh-TW" sz="3500" b="1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Pull-up Ratio </a:t>
            </a:r>
            <a:r>
              <a:rPr lang="zh-TW" altLang="en-US" sz="3500" b="1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來自 </a:t>
            </a:r>
            <a:r>
              <a:rPr lang="en-US" altLang="zh-TW" sz="3500" b="1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6T </a:t>
            </a:r>
            <a:r>
              <a:rPr lang="zh-TW" altLang="en-US" sz="3500" b="1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元件競爭</a:t>
            </a:r>
          </a:p>
        </p:txBody>
      </p:sp>
      <p:cxnSp>
        <p:nvCxnSpPr>
          <p:cNvPr id="3" name="直線接點 2">
            <a:extLst>
              <a:ext uri="{FF2B5EF4-FFF2-40B4-BE49-F238E27FC236}">
                <a16:creationId xmlns:a16="http://schemas.microsoft.com/office/drawing/2014/main" id="{AAB45398-E52D-4F46-EDAC-6C3C7F17A88E}"/>
              </a:ext>
            </a:extLst>
          </p:cNvPr>
          <p:cNvCxnSpPr/>
          <p:nvPr/>
        </p:nvCxnSpPr>
        <p:spPr>
          <a:xfrm>
            <a:off x="381000" y="1054100"/>
            <a:ext cx="11430000" cy="0"/>
          </a:xfrm>
          <a:prstGeom prst="line">
            <a:avLst/>
          </a:prstGeom>
          <a:ln w="12700">
            <a:solidFill>
              <a:srgbClr val="B8BE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線接點 3">
            <a:extLst>
              <a:ext uri="{FF2B5EF4-FFF2-40B4-BE49-F238E27FC236}">
                <a16:creationId xmlns:a16="http://schemas.microsoft.com/office/drawing/2014/main" id="{3387AB85-AA19-A09B-E488-B9522984C59C}"/>
              </a:ext>
            </a:extLst>
          </p:cNvPr>
          <p:cNvCxnSpPr/>
          <p:nvPr/>
        </p:nvCxnSpPr>
        <p:spPr>
          <a:xfrm>
            <a:off x="2159000" y="1524000"/>
            <a:ext cx="400050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線接點 4">
            <a:extLst>
              <a:ext uri="{FF2B5EF4-FFF2-40B4-BE49-F238E27FC236}">
                <a16:creationId xmlns:a16="http://schemas.microsoft.com/office/drawing/2014/main" id="{E59046F7-579E-96C3-C77F-F5049B428505}"/>
              </a:ext>
            </a:extLst>
          </p:cNvPr>
          <p:cNvCxnSpPr/>
          <p:nvPr/>
        </p:nvCxnSpPr>
        <p:spPr>
          <a:xfrm>
            <a:off x="2159000" y="5435600"/>
            <a:ext cx="400050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線接點 5">
            <a:extLst>
              <a:ext uri="{FF2B5EF4-FFF2-40B4-BE49-F238E27FC236}">
                <a16:creationId xmlns:a16="http://schemas.microsoft.com/office/drawing/2014/main" id="{FC2DD458-AEAC-EB50-B6DE-513897E5B97C}"/>
              </a:ext>
            </a:extLst>
          </p:cNvPr>
          <p:cNvCxnSpPr/>
          <p:nvPr/>
        </p:nvCxnSpPr>
        <p:spPr>
          <a:xfrm>
            <a:off x="3073400" y="1524000"/>
            <a:ext cx="0" cy="50800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>
            <a:extLst>
              <a:ext uri="{FF2B5EF4-FFF2-40B4-BE49-F238E27FC236}">
                <a16:creationId xmlns:a16="http://schemas.microsoft.com/office/drawing/2014/main" id="{A852C735-E972-6D94-8722-25236EFC0210}"/>
              </a:ext>
            </a:extLst>
          </p:cNvPr>
          <p:cNvCxnSpPr/>
          <p:nvPr/>
        </p:nvCxnSpPr>
        <p:spPr>
          <a:xfrm>
            <a:off x="3073400" y="2603500"/>
            <a:ext cx="0" cy="88900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841EE046-F888-604B-DD54-CBB6209CD891}"/>
              </a:ext>
            </a:extLst>
          </p:cNvPr>
          <p:cNvCxnSpPr/>
          <p:nvPr/>
        </p:nvCxnSpPr>
        <p:spPr>
          <a:xfrm>
            <a:off x="3073400" y="3492500"/>
            <a:ext cx="0" cy="69850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36EE1609-A800-E66F-E1D1-213D3A8BEB9F}"/>
              </a:ext>
            </a:extLst>
          </p:cNvPr>
          <p:cNvCxnSpPr/>
          <p:nvPr/>
        </p:nvCxnSpPr>
        <p:spPr>
          <a:xfrm>
            <a:off x="3073400" y="4762500"/>
            <a:ext cx="0" cy="67310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97230D2D-E14D-F308-2867-A3AE78739563}"/>
              </a:ext>
            </a:extLst>
          </p:cNvPr>
          <p:cNvCxnSpPr/>
          <p:nvPr/>
        </p:nvCxnSpPr>
        <p:spPr>
          <a:xfrm>
            <a:off x="5232400" y="1524000"/>
            <a:ext cx="0" cy="50800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>
            <a:extLst>
              <a:ext uri="{FF2B5EF4-FFF2-40B4-BE49-F238E27FC236}">
                <a16:creationId xmlns:a16="http://schemas.microsoft.com/office/drawing/2014/main" id="{EE4CD947-0429-2ECE-CE67-8908D8BBF21F}"/>
              </a:ext>
            </a:extLst>
          </p:cNvPr>
          <p:cNvCxnSpPr/>
          <p:nvPr/>
        </p:nvCxnSpPr>
        <p:spPr>
          <a:xfrm>
            <a:off x="5232400" y="2603500"/>
            <a:ext cx="0" cy="88900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 11">
            <a:extLst>
              <a:ext uri="{FF2B5EF4-FFF2-40B4-BE49-F238E27FC236}">
                <a16:creationId xmlns:a16="http://schemas.microsoft.com/office/drawing/2014/main" id="{6697479F-1849-EF2D-33A7-9446431AFD16}"/>
              </a:ext>
            </a:extLst>
          </p:cNvPr>
          <p:cNvCxnSpPr/>
          <p:nvPr/>
        </p:nvCxnSpPr>
        <p:spPr>
          <a:xfrm>
            <a:off x="5232400" y="3492500"/>
            <a:ext cx="0" cy="69850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>
            <a:extLst>
              <a:ext uri="{FF2B5EF4-FFF2-40B4-BE49-F238E27FC236}">
                <a16:creationId xmlns:a16="http://schemas.microsoft.com/office/drawing/2014/main" id="{24C7A938-2659-972C-677B-3DBDB3BB3A30}"/>
              </a:ext>
            </a:extLst>
          </p:cNvPr>
          <p:cNvCxnSpPr/>
          <p:nvPr/>
        </p:nvCxnSpPr>
        <p:spPr>
          <a:xfrm>
            <a:off x="5232400" y="4762500"/>
            <a:ext cx="0" cy="67310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>
            <a:extLst>
              <a:ext uri="{FF2B5EF4-FFF2-40B4-BE49-F238E27FC236}">
                <a16:creationId xmlns:a16="http://schemas.microsoft.com/office/drawing/2014/main" id="{1EFDFBA3-124D-8601-233D-269B5F14B1A6}"/>
              </a:ext>
            </a:extLst>
          </p:cNvPr>
          <p:cNvCxnSpPr/>
          <p:nvPr/>
        </p:nvCxnSpPr>
        <p:spPr>
          <a:xfrm>
            <a:off x="825500" y="3492500"/>
            <a:ext cx="224790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5F3D0A08-DA8B-E5EE-D0D1-1B5CFF7B32FB}"/>
              </a:ext>
            </a:extLst>
          </p:cNvPr>
          <p:cNvCxnSpPr/>
          <p:nvPr/>
        </p:nvCxnSpPr>
        <p:spPr>
          <a:xfrm>
            <a:off x="5232400" y="3492500"/>
            <a:ext cx="226060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43E5C651-6245-7C00-D536-AC1723842BF2}"/>
              </a:ext>
            </a:extLst>
          </p:cNvPr>
          <p:cNvCxnSpPr/>
          <p:nvPr/>
        </p:nvCxnSpPr>
        <p:spPr>
          <a:xfrm>
            <a:off x="825500" y="1295400"/>
            <a:ext cx="6413500" cy="0"/>
          </a:xfrm>
          <a:prstGeom prst="line">
            <a:avLst/>
          </a:prstGeom>
          <a:ln w="17780">
            <a:solidFill>
              <a:srgbClr val="B8BE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id="{27F2A816-DF5B-38AA-1767-23B9762C36AB}"/>
              </a:ext>
            </a:extLst>
          </p:cNvPr>
          <p:cNvCxnSpPr/>
          <p:nvPr/>
        </p:nvCxnSpPr>
        <p:spPr>
          <a:xfrm>
            <a:off x="1397000" y="1295400"/>
            <a:ext cx="0" cy="1816100"/>
          </a:xfrm>
          <a:prstGeom prst="line">
            <a:avLst/>
          </a:prstGeom>
          <a:ln w="17780">
            <a:solidFill>
              <a:srgbClr val="76C75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8C2D9765-C1EE-353B-C711-A2EF2F2DF8EF}"/>
              </a:ext>
            </a:extLst>
          </p:cNvPr>
          <p:cNvCxnSpPr/>
          <p:nvPr/>
        </p:nvCxnSpPr>
        <p:spPr>
          <a:xfrm>
            <a:off x="6667500" y="1295400"/>
            <a:ext cx="0" cy="1816100"/>
          </a:xfrm>
          <a:prstGeom prst="line">
            <a:avLst/>
          </a:prstGeom>
          <a:ln w="17780">
            <a:solidFill>
              <a:srgbClr val="76C75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6CA1DD48-280E-6946-A437-5B462334ED30}"/>
              </a:ext>
            </a:extLst>
          </p:cNvPr>
          <p:cNvCxnSpPr/>
          <p:nvPr/>
        </p:nvCxnSpPr>
        <p:spPr>
          <a:xfrm flipV="1">
            <a:off x="3073400" y="2717800"/>
            <a:ext cx="1816100" cy="774700"/>
          </a:xfrm>
          <a:prstGeom prst="line">
            <a:avLst/>
          </a:prstGeom>
          <a:ln w="17780">
            <a:solidFill>
              <a:srgbClr val="A05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43FF63E4-32B7-1CAD-35FB-6ADD84C05D7B}"/>
              </a:ext>
            </a:extLst>
          </p:cNvPr>
          <p:cNvCxnSpPr/>
          <p:nvPr/>
        </p:nvCxnSpPr>
        <p:spPr>
          <a:xfrm flipH="1" flipV="1">
            <a:off x="3416300" y="2717800"/>
            <a:ext cx="1816100" cy="774700"/>
          </a:xfrm>
          <a:prstGeom prst="line">
            <a:avLst/>
          </a:prstGeom>
          <a:ln w="17780">
            <a:solidFill>
              <a:srgbClr val="A05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8388887E-FE5A-7868-0EFE-EB433A966AC4}"/>
              </a:ext>
            </a:extLst>
          </p:cNvPr>
          <p:cNvSpPr txBox="1"/>
          <p:nvPr/>
        </p:nvSpPr>
        <p:spPr>
          <a:xfrm>
            <a:off x="3873500" y="1117600"/>
            <a:ext cx="571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TW" sz="1300" b="1">
                <a:solidFill>
                  <a:srgbClr val="000000"/>
                </a:solidFill>
                <a:latin typeface="Arial" panose="020B0604020202020204" pitchFamily="34" charset="0"/>
                <a:ea typeface="Microsoft JhengHei" panose="020B0604030504040204" pitchFamily="34" charset="-120"/>
              </a:rPr>
              <a:t>WL</a:t>
            </a:r>
            <a:endParaRPr lang="zh-TW" altLang="en-US" sz="1300" b="1">
              <a:solidFill>
                <a:srgbClr val="000000"/>
              </a:solidFill>
              <a:latin typeface="Arial" panose="020B0604020202020204" pitchFamily="34" charset="0"/>
              <a:ea typeface="Microsoft JhengHei" panose="020B0604030504040204" pitchFamily="34" charset="-120"/>
            </a:endParaRP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E1D8AFC9-6AFB-FF5B-664A-441D0FFD8D56}"/>
              </a:ext>
            </a:extLst>
          </p:cNvPr>
          <p:cNvSpPr txBox="1"/>
          <p:nvPr/>
        </p:nvSpPr>
        <p:spPr>
          <a:xfrm>
            <a:off x="3873500" y="1600200"/>
            <a:ext cx="571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TW" sz="1200" b="1">
                <a:solidFill>
                  <a:srgbClr val="000000"/>
                </a:solidFill>
                <a:latin typeface="Arial" panose="020B0604020202020204" pitchFamily="34" charset="0"/>
                <a:ea typeface="Microsoft JhengHei" panose="020B0604030504040204" pitchFamily="34" charset="-120"/>
              </a:rPr>
              <a:t>VDD</a:t>
            </a:r>
            <a:endParaRPr lang="zh-TW" altLang="en-US" sz="1200" b="1">
              <a:solidFill>
                <a:srgbClr val="000000"/>
              </a:solidFill>
              <a:latin typeface="Arial" panose="020B0604020202020204" pitchFamily="34" charset="0"/>
              <a:ea typeface="Microsoft JhengHei" panose="020B0604030504040204" pitchFamily="34" charset="-120"/>
            </a:endParaRP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26916389-BC74-F693-FDC3-3CF96E86251C}"/>
              </a:ext>
            </a:extLst>
          </p:cNvPr>
          <p:cNvSpPr txBox="1"/>
          <p:nvPr/>
        </p:nvSpPr>
        <p:spPr>
          <a:xfrm>
            <a:off x="3873500" y="5461000"/>
            <a:ext cx="571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TW" sz="1200" b="1">
                <a:solidFill>
                  <a:srgbClr val="000000"/>
                </a:solidFill>
                <a:latin typeface="Arial" panose="020B0604020202020204" pitchFamily="34" charset="0"/>
                <a:ea typeface="Microsoft JhengHei" panose="020B0604030504040204" pitchFamily="34" charset="-120"/>
              </a:rPr>
              <a:t>GND</a:t>
            </a:r>
            <a:endParaRPr lang="zh-TW" altLang="en-US" sz="1200" b="1">
              <a:solidFill>
                <a:srgbClr val="000000"/>
              </a:solidFill>
              <a:latin typeface="Arial" panose="020B0604020202020204" pitchFamily="34" charset="0"/>
              <a:ea typeface="Microsoft JhengHei" panose="020B0604030504040204" pitchFamily="34" charset="-120"/>
            </a:endParaRP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D68BD66B-7205-C49C-F47C-A3859703C53C}"/>
              </a:ext>
            </a:extLst>
          </p:cNvPr>
          <p:cNvSpPr txBox="1"/>
          <p:nvPr/>
        </p:nvSpPr>
        <p:spPr>
          <a:xfrm>
            <a:off x="482600" y="3556000"/>
            <a:ext cx="698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TW" sz="1100" b="1">
                <a:solidFill>
                  <a:srgbClr val="666666"/>
                </a:solidFill>
                <a:latin typeface="Arial" panose="020B0604020202020204" pitchFamily="34" charset="0"/>
                <a:ea typeface="Microsoft JhengHei" panose="020B0604030504040204" pitchFamily="34" charset="-120"/>
              </a:rPr>
              <a:t>BLB</a:t>
            </a:r>
            <a:endParaRPr lang="zh-TW" altLang="en-US" sz="1100" b="1">
              <a:solidFill>
                <a:srgbClr val="666666"/>
              </a:solidFill>
              <a:latin typeface="Arial" panose="020B0604020202020204" pitchFamily="34" charset="0"/>
              <a:ea typeface="Microsoft JhengHei" panose="020B0604030504040204" pitchFamily="34" charset="-120"/>
            </a:endParaRP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E49FDD22-75B5-6E80-B83C-9D4FFE4510B7}"/>
              </a:ext>
            </a:extLst>
          </p:cNvPr>
          <p:cNvSpPr txBox="1"/>
          <p:nvPr/>
        </p:nvSpPr>
        <p:spPr>
          <a:xfrm>
            <a:off x="6959600" y="35560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TW" sz="1100" b="1">
                <a:solidFill>
                  <a:srgbClr val="666666"/>
                </a:solidFill>
                <a:latin typeface="Arial" panose="020B0604020202020204" pitchFamily="34" charset="0"/>
                <a:ea typeface="Microsoft JhengHei" panose="020B0604030504040204" pitchFamily="34" charset="-120"/>
              </a:rPr>
              <a:t>BL</a:t>
            </a:r>
            <a:endParaRPr lang="zh-TW" altLang="en-US" sz="1100" b="1">
              <a:solidFill>
                <a:srgbClr val="666666"/>
              </a:solidFill>
              <a:latin typeface="Arial" panose="020B0604020202020204" pitchFamily="34" charset="0"/>
              <a:ea typeface="Microsoft JhengHei" panose="020B0604030504040204" pitchFamily="34" charset="-12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91BF0646-2BDA-3D66-AB9E-A57850209995}"/>
              </a:ext>
            </a:extLst>
          </p:cNvPr>
          <p:cNvSpPr/>
          <p:nvPr/>
        </p:nvSpPr>
        <p:spPr>
          <a:xfrm>
            <a:off x="2501900" y="2032000"/>
            <a:ext cx="1143000" cy="571500"/>
          </a:xfrm>
          <a:prstGeom prst="rect">
            <a:avLst/>
          </a:prstGeom>
          <a:solidFill>
            <a:srgbClr val="FFE6E6"/>
          </a:solidFill>
          <a:ln w="19050">
            <a:solidFill>
              <a:srgbClr val="FF33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021B705B-9FAD-DF18-95E8-59F3B0D9D6E2}"/>
              </a:ext>
            </a:extLst>
          </p:cNvPr>
          <p:cNvSpPr txBox="1"/>
          <p:nvPr/>
        </p:nvSpPr>
        <p:spPr>
          <a:xfrm>
            <a:off x="2628900" y="2133600"/>
            <a:ext cx="889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TW" sz="1300" b="1">
                <a:solidFill>
                  <a:srgbClr val="FF3333"/>
                </a:solidFill>
                <a:latin typeface="Arial" panose="020B0604020202020204" pitchFamily="34" charset="0"/>
                <a:ea typeface="Microsoft JhengHei" panose="020B0604030504040204" pitchFamily="34" charset="-120"/>
              </a:rPr>
              <a:t>PUL
PU</a:t>
            </a:r>
            <a:endParaRPr lang="zh-TW" altLang="en-US" sz="1300" b="1">
              <a:solidFill>
                <a:srgbClr val="FF3333"/>
              </a:solidFill>
              <a:latin typeface="Arial" panose="020B0604020202020204" pitchFamily="34" charset="0"/>
              <a:ea typeface="Microsoft JhengHei" panose="020B0604030504040204" pitchFamily="34" charset="-120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91CD0B4A-5517-2FC8-C67C-4AA9E3A526AA}"/>
              </a:ext>
            </a:extLst>
          </p:cNvPr>
          <p:cNvSpPr/>
          <p:nvPr/>
        </p:nvSpPr>
        <p:spPr>
          <a:xfrm>
            <a:off x="4660900" y="2032000"/>
            <a:ext cx="1143000" cy="571500"/>
          </a:xfrm>
          <a:prstGeom prst="rect">
            <a:avLst/>
          </a:prstGeom>
          <a:solidFill>
            <a:srgbClr val="FFE6E6"/>
          </a:solidFill>
          <a:ln w="19050">
            <a:solidFill>
              <a:srgbClr val="FF33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7D856326-86BA-7A43-F02D-6381C0FD31E7}"/>
              </a:ext>
            </a:extLst>
          </p:cNvPr>
          <p:cNvSpPr txBox="1"/>
          <p:nvPr/>
        </p:nvSpPr>
        <p:spPr>
          <a:xfrm>
            <a:off x="4787900" y="2133600"/>
            <a:ext cx="889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TW" sz="1300" b="1">
                <a:solidFill>
                  <a:srgbClr val="FF3333"/>
                </a:solidFill>
                <a:latin typeface="Arial" panose="020B0604020202020204" pitchFamily="34" charset="0"/>
                <a:ea typeface="Microsoft JhengHei" panose="020B0604030504040204" pitchFamily="34" charset="-120"/>
              </a:rPr>
              <a:t>PUR
PU</a:t>
            </a:r>
            <a:endParaRPr lang="zh-TW" altLang="en-US" sz="1300" b="1">
              <a:solidFill>
                <a:srgbClr val="FF3333"/>
              </a:solidFill>
              <a:latin typeface="Arial" panose="020B0604020202020204" pitchFamily="34" charset="0"/>
              <a:ea typeface="Microsoft JhengHei" panose="020B0604030504040204" pitchFamily="34" charset="-120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7DE63C36-13D8-1B06-EC9E-AB2B6D291AB8}"/>
              </a:ext>
            </a:extLst>
          </p:cNvPr>
          <p:cNvSpPr/>
          <p:nvPr/>
        </p:nvSpPr>
        <p:spPr>
          <a:xfrm>
            <a:off x="825500" y="3111500"/>
            <a:ext cx="1143000" cy="762000"/>
          </a:xfrm>
          <a:prstGeom prst="rect">
            <a:avLst/>
          </a:prstGeom>
          <a:solidFill>
            <a:srgbClr val="EAF8EE"/>
          </a:solidFill>
          <a:ln w="19050">
            <a:solidFill>
              <a:srgbClr val="4FB8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D6375613-F0EC-3B44-3C24-5BEB7CC7B510}"/>
              </a:ext>
            </a:extLst>
          </p:cNvPr>
          <p:cNvSpPr txBox="1"/>
          <p:nvPr/>
        </p:nvSpPr>
        <p:spPr>
          <a:xfrm>
            <a:off x="952500" y="3276600"/>
            <a:ext cx="889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TW" sz="1300" b="1">
                <a:solidFill>
                  <a:srgbClr val="4FB833"/>
                </a:solidFill>
                <a:latin typeface="Arial" panose="020B0604020202020204" pitchFamily="34" charset="0"/>
                <a:ea typeface="Microsoft JhengHei" panose="020B0604030504040204" pitchFamily="34" charset="-120"/>
              </a:rPr>
              <a:t>PGL
PG</a:t>
            </a:r>
            <a:endParaRPr lang="zh-TW" altLang="en-US" sz="1300" b="1">
              <a:solidFill>
                <a:srgbClr val="4FB833"/>
              </a:solidFill>
              <a:latin typeface="Arial" panose="020B0604020202020204" pitchFamily="34" charset="0"/>
              <a:ea typeface="Microsoft JhengHei" panose="020B0604030504040204" pitchFamily="34" charset="-120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9287C5A9-5F24-1BD8-F2B0-FB6671D9CB05}"/>
              </a:ext>
            </a:extLst>
          </p:cNvPr>
          <p:cNvSpPr/>
          <p:nvPr/>
        </p:nvSpPr>
        <p:spPr>
          <a:xfrm>
            <a:off x="6350000" y="3111500"/>
            <a:ext cx="1143000" cy="762000"/>
          </a:xfrm>
          <a:prstGeom prst="rect">
            <a:avLst/>
          </a:prstGeom>
          <a:solidFill>
            <a:srgbClr val="EAF8EE"/>
          </a:solidFill>
          <a:ln w="19050">
            <a:solidFill>
              <a:srgbClr val="4FB8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152BAAFE-89BB-7BEE-AF34-FF4FB4E0C1B7}"/>
              </a:ext>
            </a:extLst>
          </p:cNvPr>
          <p:cNvSpPr txBox="1"/>
          <p:nvPr/>
        </p:nvSpPr>
        <p:spPr>
          <a:xfrm>
            <a:off x="6477000" y="3276600"/>
            <a:ext cx="889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TW" sz="1300" b="1">
                <a:solidFill>
                  <a:srgbClr val="4FB833"/>
                </a:solidFill>
                <a:latin typeface="Arial" panose="020B0604020202020204" pitchFamily="34" charset="0"/>
                <a:ea typeface="Microsoft JhengHei" panose="020B0604030504040204" pitchFamily="34" charset="-120"/>
              </a:rPr>
              <a:t>PGR
PG</a:t>
            </a:r>
            <a:endParaRPr lang="zh-TW" altLang="en-US" sz="1300" b="1">
              <a:solidFill>
                <a:srgbClr val="4FB833"/>
              </a:solidFill>
              <a:latin typeface="Arial" panose="020B0604020202020204" pitchFamily="34" charset="0"/>
              <a:ea typeface="Microsoft JhengHei" panose="020B0604030504040204" pitchFamily="34" charset="-120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C046AA51-90FE-9EDB-2C18-7DE2FFD31864}"/>
              </a:ext>
            </a:extLst>
          </p:cNvPr>
          <p:cNvSpPr/>
          <p:nvPr/>
        </p:nvSpPr>
        <p:spPr>
          <a:xfrm>
            <a:off x="2501900" y="4191000"/>
            <a:ext cx="1143000" cy="571500"/>
          </a:xfrm>
          <a:prstGeom prst="rect">
            <a:avLst/>
          </a:prstGeom>
          <a:solidFill>
            <a:srgbClr val="EAF2FF"/>
          </a:solidFill>
          <a:ln w="19050">
            <a:solidFill>
              <a:srgbClr val="007A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7A54587E-6EF6-3CFA-4139-0792D273842A}"/>
              </a:ext>
            </a:extLst>
          </p:cNvPr>
          <p:cNvSpPr txBox="1"/>
          <p:nvPr/>
        </p:nvSpPr>
        <p:spPr>
          <a:xfrm>
            <a:off x="2628900" y="4292600"/>
            <a:ext cx="889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TW" sz="1300" b="1">
                <a:solidFill>
                  <a:srgbClr val="007AFF"/>
                </a:solidFill>
                <a:latin typeface="Arial" panose="020B0604020202020204" pitchFamily="34" charset="0"/>
                <a:ea typeface="Microsoft JhengHei" panose="020B0604030504040204" pitchFamily="34" charset="-120"/>
              </a:rPr>
              <a:t>PDL
PD</a:t>
            </a:r>
            <a:endParaRPr lang="zh-TW" altLang="en-US" sz="1300" b="1">
              <a:solidFill>
                <a:srgbClr val="007AFF"/>
              </a:solidFill>
              <a:latin typeface="Arial" panose="020B0604020202020204" pitchFamily="34" charset="0"/>
              <a:ea typeface="Microsoft JhengHei" panose="020B0604030504040204" pitchFamily="34" charset="-120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39C0CAAB-43B3-C0B3-40D4-4C1B4AF6BE08}"/>
              </a:ext>
            </a:extLst>
          </p:cNvPr>
          <p:cNvSpPr/>
          <p:nvPr/>
        </p:nvSpPr>
        <p:spPr>
          <a:xfrm>
            <a:off x="4660900" y="4191000"/>
            <a:ext cx="1143000" cy="571500"/>
          </a:xfrm>
          <a:prstGeom prst="rect">
            <a:avLst/>
          </a:prstGeom>
          <a:solidFill>
            <a:srgbClr val="EAF2FF"/>
          </a:solidFill>
          <a:ln w="19050">
            <a:solidFill>
              <a:srgbClr val="007A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A658FA63-34CB-831D-FC03-0DB8DAF5A075}"/>
              </a:ext>
            </a:extLst>
          </p:cNvPr>
          <p:cNvSpPr txBox="1"/>
          <p:nvPr/>
        </p:nvSpPr>
        <p:spPr>
          <a:xfrm>
            <a:off x="4787900" y="4292600"/>
            <a:ext cx="889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TW" sz="1300" b="1">
                <a:solidFill>
                  <a:srgbClr val="007AFF"/>
                </a:solidFill>
                <a:latin typeface="Arial" panose="020B0604020202020204" pitchFamily="34" charset="0"/>
                <a:ea typeface="Microsoft JhengHei" panose="020B0604030504040204" pitchFamily="34" charset="-120"/>
              </a:rPr>
              <a:t>PDR
PD</a:t>
            </a:r>
            <a:endParaRPr lang="zh-TW" altLang="en-US" sz="1300" b="1">
              <a:solidFill>
                <a:srgbClr val="007AFF"/>
              </a:solidFill>
              <a:latin typeface="Arial" panose="020B0604020202020204" pitchFamily="34" charset="0"/>
              <a:ea typeface="Microsoft JhengHei" panose="020B0604030504040204" pitchFamily="34" charset="-120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DBC89460-84D3-E3F2-5083-2D6E0D4864E9}"/>
              </a:ext>
            </a:extLst>
          </p:cNvPr>
          <p:cNvSpPr/>
          <p:nvPr/>
        </p:nvSpPr>
        <p:spPr>
          <a:xfrm>
            <a:off x="2971800" y="3390900"/>
            <a:ext cx="203200" cy="203200"/>
          </a:xfrm>
          <a:prstGeom prst="rect">
            <a:avLst/>
          </a:prstGeom>
          <a:solidFill>
            <a:srgbClr val="000000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FFFFFF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040A811E-C280-E8A5-F61B-AF53EF84A2D6}"/>
              </a:ext>
            </a:extLst>
          </p:cNvPr>
          <p:cNvSpPr/>
          <p:nvPr/>
        </p:nvSpPr>
        <p:spPr>
          <a:xfrm>
            <a:off x="5130800" y="3390900"/>
            <a:ext cx="203200" cy="203200"/>
          </a:xfrm>
          <a:prstGeom prst="rect">
            <a:avLst/>
          </a:prstGeom>
          <a:solidFill>
            <a:srgbClr val="000000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FFFFFF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8C82CB44-6054-2A77-23F6-4D43F72DCC68}"/>
              </a:ext>
            </a:extLst>
          </p:cNvPr>
          <p:cNvSpPr txBox="1"/>
          <p:nvPr/>
        </p:nvSpPr>
        <p:spPr>
          <a:xfrm>
            <a:off x="2413000" y="3606800"/>
            <a:ext cx="482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zh-TW" sz="1300" b="1">
                <a:solidFill>
                  <a:srgbClr val="000000"/>
                </a:solidFill>
                <a:latin typeface="Arial" panose="020B0604020202020204" pitchFamily="34" charset="0"/>
                <a:ea typeface="Microsoft JhengHei" panose="020B0604030504040204" pitchFamily="34" charset="-120"/>
              </a:rPr>
              <a:t>QB</a:t>
            </a:r>
            <a:endParaRPr lang="zh-TW" altLang="en-US" sz="1300" b="1">
              <a:solidFill>
                <a:srgbClr val="000000"/>
              </a:solidFill>
              <a:latin typeface="Arial" panose="020B0604020202020204" pitchFamily="34" charset="0"/>
              <a:ea typeface="Microsoft JhengHei" panose="020B0604030504040204" pitchFamily="34" charset="-120"/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C8A7B828-B476-6FC1-F3DE-B811D7BE335F}"/>
              </a:ext>
            </a:extLst>
          </p:cNvPr>
          <p:cNvSpPr txBox="1"/>
          <p:nvPr/>
        </p:nvSpPr>
        <p:spPr>
          <a:xfrm>
            <a:off x="5422900" y="3606800"/>
            <a:ext cx="317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TW" sz="1300" b="1">
                <a:solidFill>
                  <a:srgbClr val="000000"/>
                </a:solidFill>
                <a:latin typeface="Arial" panose="020B0604020202020204" pitchFamily="34" charset="0"/>
                <a:ea typeface="Microsoft JhengHei" panose="020B0604030504040204" pitchFamily="34" charset="-120"/>
              </a:rPr>
              <a:t>Q</a:t>
            </a:r>
            <a:endParaRPr lang="zh-TW" altLang="en-US" sz="1300" b="1">
              <a:solidFill>
                <a:srgbClr val="000000"/>
              </a:solidFill>
              <a:latin typeface="Arial" panose="020B0604020202020204" pitchFamily="34" charset="0"/>
              <a:ea typeface="Microsoft JhengHei" panose="020B0604030504040204" pitchFamily="34" charset="-120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E29CBE6D-32A9-FABB-8E00-5BDDB8F5809D}"/>
              </a:ext>
            </a:extLst>
          </p:cNvPr>
          <p:cNvSpPr/>
          <p:nvPr/>
        </p:nvSpPr>
        <p:spPr>
          <a:xfrm>
            <a:off x="7874000" y="1422400"/>
            <a:ext cx="3937000" cy="1803400"/>
          </a:xfrm>
          <a:prstGeom prst="rect">
            <a:avLst/>
          </a:prstGeom>
          <a:solidFill>
            <a:srgbClr val="EDEDED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FFFFFF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B984F0E9-2330-48C4-B2D7-059C12EBC570}"/>
              </a:ext>
            </a:extLst>
          </p:cNvPr>
          <p:cNvSpPr txBox="1"/>
          <p:nvPr/>
        </p:nvSpPr>
        <p:spPr>
          <a:xfrm>
            <a:off x="8128000" y="1600200"/>
            <a:ext cx="3429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TW" b="1">
                <a:solidFill>
                  <a:srgbClr val="3D8DFF"/>
                </a:solidFill>
                <a:latin typeface="Arial" panose="020B0604020202020204" pitchFamily="34" charset="0"/>
                <a:ea typeface="Microsoft JhengHei" panose="020B0604030504040204" pitchFamily="34" charset="-120"/>
              </a:rPr>
              <a:t>CELL RATIO</a:t>
            </a:r>
            <a:endParaRPr lang="zh-TW" altLang="en-US" b="1">
              <a:solidFill>
                <a:srgbClr val="3D8DFF"/>
              </a:solidFill>
              <a:latin typeface="Arial" panose="020B0604020202020204" pitchFamily="34" charset="0"/>
              <a:ea typeface="Microsoft JhengHei" panose="020B0604030504040204" pitchFamily="34" charset="-120"/>
            </a:endParaRPr>
          </a:p>
        </p:txBody>
      </p: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8FB116B8-7F85-3624-2342-0BFE49F53E84}"/>
              </a:ext>
            </a:extLst>
          </p:cNvPr>
          <p:cNvSpPr txBox="1"/>
          <p:nvPr/>
        </p:nvSpPr>
        <p:spPr>
          <a:xfrm>
            <a:off x="8128000" y="1993900"/>
            <a:ext cx="3429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TW" sz="2400" b="1">
                <a:solidFill>
                  <a:srgbClr val="00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</a:rPr>
              <a:t>CR = </a:t>
            </a:r>
            <a:r>
              <a:rPr lang="el-GR" altLang="zh-TW" sz="2400" b="1">
                <a:solidFill>
                  <a:srgbClr val="00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</a:rPr>
              <a:t>β</a:t>
            </a:r>
            <a:r>
              <a:rPr lang="en-US" altLang="zh-TW" sz="2400" b="1">
                <a:solidFill>
                  <a:srgbClr val="00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</a:rPr>
              <a:t>PD / </a:t>
            </a:r>
            <a:r>
              <a:rPr lang="el-GR" altLang="zh-TW" sz="2400" b="1">
                <a:solidFill>
                  <a:srgbClr val="00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</a:rPr>
              <a:t>β</a:t>
            </a:r>
            <a:r>
              <a:rPr lang="en-US" altLang="zh-TW" sz="2400" b="1">
                <a:solidFill>
                  <a:srgbClr val="00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</a:rPr>
              <a:t>PG</a:t>
            </a:r>
            <a:endParaRPr lang="zh-TW" altLang="en-US" sz="2400" b="1">
              <a:solidFill>
                <a:srgbClr val="000000"/>
              </a:solidFill>
              <a:latin typeface="Times New Roman" panose="02020603050405020304" pitchFamily="18" charset="0"/>
              <a:ea typeface="Microsoft JhengHei" panose="020B0604030504040204" pitchFamily="34" charset="-120"/>
            </a:endParaRPr>
          </a:p>
        </p:txBody>
      </p: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88F403F1-AD75-D2B4-4722-92D4DE11CC7F}"/>
              </a:ext>
            </a:extLst>
          </p:cNvPr>
          <p:cNvSpPr txBox="1"/>
          <p:nvPr/>
        </p:nvSpPr>
        <p:spPr>
          <a:xfrm>
            <a:off x="8128000" y="2476500"/>
            <a:ext cx="3429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TW" sz="150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Read</a:t>
            </a:r>
            <a:r>
              <a:rPr lang="zh-TW" altLang="en-US" sz="150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：</a:t>
            </a:r>
            <a:r>
              <a:rPr lang="en-US" altLang="zh-TW" sz="150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PD </a:t>
            </a:r>
            <a:r>
              <a:rPr lang="zh-TW" altLang="en-US" sz="150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必須壓住儲存 </a:t>
            </a:r>
            <a:r>
              <a:rPr lang="en-US" altLang="zh-TW" sz="150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0</a:t>
            </a:r>
            <a:r>
              <a:rPr lang="zh-TW" altLang="en-US" sz="150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，
抵抗 </a:t>
            </a:r>
            <a:r>
              <a:rPr lang="en-US" altLang="zh-TW" sz="150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PG </a:t>
            </a:r>
            <a:r>
              <a:rPr lang="zh-TW" altLang="en-US" sz="150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連接 </a:t>
            </a:r>
            <a:r>
              <a:rPr lang="en-US" altLang="zh-TW" sz="150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bitline </a:t>
            </a:r>
            <a:r>
              <a:rPr lang="zh-TW" altLang="en-US" sz="150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的擾動。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F42C352B-9C03-B8D9-EB4A-1A65AD5B210B}"/>
              </a:ext>
            </a:extLst>
          </p:cNvPr>
          <p:cNvSpPr/>
          <p:nvPr/>
        </p:nvSpPr>
        <p:spPr>
          <a:xfrm>
            <a:off x="7874000" y="3467100"/>
            <a:ext cx="3937000" cy="1803400"/>
          </a:xfrm>
          <a:prstGeom prst="rect">
            <a:avLst/>
          </a:prstGeom>
          <a:solidFill>
            <a:srgbClr val="EDEDED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FFFFFF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7" name="文字方塊 46">
            <a:extLst>
              <a:ext uri="{FF2B5EF4-FFF2-40B4-BE49-F238E27FC236}">
                <a16:creationId xmlns:a16="http://schemas.microsoft.com/office/drawing/2014/main" id="{DF3A3C00-E158-554E-CC3C-4B972BD75200}"/>
              </a:ext>
            </a:extLst>
          </p:cNvPr>
          <p:cNvSpPr txBox="1"/>
          <p:nvPr/>
        </p:nvSpPr>
        <p:spPr>
          <a:xfrm>
            <a:off x="8128000" y="3644900"/>
            <a:ext cx="3429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TW" b="1">
                <a:solidFill>
                  <a:srgbClr val="FF8C00"/>
                </a:solidFill>
                <a:latin typeface="Arial" panose="020B0604020202020204" pitchFamily="34" charset="0"/>
                <a:ea typeface="Microsoft JhengHei" panose="020B0604030504040204" pitchFamily="34" charset="-120"/>
              </a:rPr>
              <a:t>PULL-UP RATIO</a:t>
            </a:r>
            <a:endParaRPr lang="zh-TW" altLang="en-US" b="1">
              <a:solidFill>
                <a:srgbClr val="FF8C00"/>
              </a:solidFill>
              <a:latin typeface="Arial" panose="020B0604020202020204" pitchFamily="34" charset="0"/>
              <a:ea typeface="Microsoft JhengHei" panose="020B0604030504040204" pitchFamily="34" charset="-120"/>
            </a:endParaRPr>
          </a:p>
        </p:txBody>
      </p:sp>
      <p:sp>
        <p:nvSpPr>
          <p:cNvPr id="48" name="文字方塊 47">
            <a:extLst>
              <a:ext uri="{FF2B5EF4-FFF2-40B4-BE49-F238E27FC236}">
                <a16:creationId xmlns:a16="http://schemas.microsoft.com/office/drawing/2014/main" id="{F58E95F0-7FB6-240B-BC43-20A67FEEDCAF}"/>
              </a:ext>
            </a:extLst>
          </p:cNvPr>
          <p:cNvSpPr txBox="1"/>
          <p:nvPr/>
        </p:nvSpPr>
        <p:spPr>
          <a:xfrm>
            <a:off x="8128000" y="4038600"/>
            <a:ext cx="3429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TW" sz="2400" b="1">
                <a:solidFill>
                  <a:srgbClr val="00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</a:rPr>
              <a:t>PR = </a:t>
            </a:r>
            <a:r>
              <a:rPr lang="el-GR" altLang="zh-TW" sz="2400" b="1">
                <a:solidFill>
                  <a:srgbClr val="00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</a:rPr>
              <a:t>β</a:t>
            </a:r>
            <a:r>
              <a:rPr lang="en-US" altLang="zh-TW" sz="2400" b="1">
                <a:solidFill>
                  <a:srgbClr val="00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</a:rPr>
              <a:t>PG / </a:t>
            </a:r>
            <a:r>
              <a:rPr lang="el-GR" altLang="zh-TW" sz="2400" b="1">
                <a:solidFill>
                  <a:srgbClr val="00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</a:rPr>
              <a:t>β</a:t>
            </a:r>
            <a:r>
              <a:rPr lang="en-US" altLang="zh-TW" sz="2400" b="1">
                <a:solidFill>
                  <a:srgbClr val="00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</a:rPr>
              <a:t>PU</a:t>
            </a:r>
            <a:endParaRPr lang="zh-TW" altLang="en-US" sz="2400" b="1">
              <a:solidFill>
                <a:srgbClr val="000000"/>
              </a:solidFill>
              <a:latin typeface="Times New Roman" panose="02020603050405020304" pitchFamily="18" charset="0"/>
              <a:ea typeface="Microsoft JhengHei" panose="020B0604030504040204" pitchFamily="34" charset="-120"/>
            </a:endParaRPr>
          </a:p>
        </p:txBody>
      </p:sp>
      <p:sp>
        <p:nvSpPr>
          <p:cNvPr id="49" name="文字方塊 48">
            <a:extLst>
              <a:ext uri="{FF2B5EF4-FFF2-40B4-BE49-F238E27FC236}">
                <a16:creationId xmlns:a16="http://schemas.microsoft.com/office/drawing/2014/main" id="{7B2BBDD5-192B-22AB-8FB7-9B88D4038077}"/>
              </a:ext>
            </a:extLst>
          </p:cNvPr>
          <p:cNvSpPr txBox="1"/>
          <p:nvPr/>
        </p:nvSpPr>
        <p:spPr>
          <a:xfrm>
            <a:off x="8128000" y="4521200"/>
            <a:ext cx="3429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TW" sz="150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Write 0</a:t>
            </a:r>
            <a:r>
              <a:rPr lang="zh-TW" altLang="en-US" sz="150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：</a:t>
            </a:r>
            <a:r>
              <a:rPr lang="en-US" altLang="zh-TW" sz="150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PG </a:t>
            </a:r>
            <a:r>
              <a:rPr lang="zh-TW" altLang="en-US" sz="150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必須克服 </a:t>
            </a:r>
            <a:r>
              <a:rPr lang="en-US" altLang="zh-TW" sz="150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PU</a:t>
            </a:r>
            <a:r>
              <a:rPr lang="zh-TW" altLang="en-US" sz="150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，
把儲存節點拉低完成翻轉。</a:t>
            </a:r>
          </a:p>
        </p:txBody>
      </p:sp>
      <p:sp>
        <p:nvSpPr>
          <p:cNvPr id="50" name="文字方塊 49">
            <a:extLst>
              <a:ext uri="{FF2B5EF4-FFF2-40B4-BE49-F238E27FC236}">
                <a16:creationId xmlns:a16="http://schemas.microsoft.com/office/drawing/2014/main" id="{9BA816DD-0503-501A-E367-A2FB778F9EB6}"/>
              </a:ext>
            </a:extLst>
          </p:cNvPr>
          <p:cNvSpPr txBox="1"/>
          <p:nvPr/>
        </p:nvSpPr>
        <p:spPr>
          <a:xfrm>
            <a:off x="444500" y="5867400"/>
            <a:ext cx="7048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TW" sz="1400" b="1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CR ↑ → Read disturb </a:t>
            </a:r>
            <a:r>
              <a:rPr lang="zh-TW" altLang="en-US" sz="1400" b="1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容忍度通常提高　｜　</a:t>
            </a:r>
            <a:r>
              <a:rPr lang="en-US" altLang="zh-TW" sz="1400" b="1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PR ↑ → Write 0 </a:t>
            </a:r>
            <a:r>
              <a:rPr lang="zh-TW" altLang="en-US" sz="1400" b="1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通常較容易</a:t>
            </a:r>
          </a:p>
        </p:txBody>
      </p:sp>
      <p:sp>
        <p:nvSpPr>
          <p:cNvPr id="51" name="文字方塊 50">
            <a:extLst>
              <a:ext uri="{FF2B5EF4-FFF2-40B4-BE49-F238E27FC236}">
                <a16:creationId xmlns:a16="http://schemas.microsoft.com/office/drawing/2014/main" id="{56746430-4EFE-7CD5-53A7-F3D7B71C2FA9}"/>
              </a:ext>
            </a:extLst>
          </p:cNvPr>
          <p:cNvSpPr txBox="1"/>
          <p:nvPr/>
        </p:nvSpPr>
        <p:spPr>
          <a:xfrm>
            <a:off x="7874000" y="5562600"/>
            <a:ext cx="393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nl-NL" altLang="zh-TW" sz="1700" b="1">
                <a:solidFill>
                  <a:srgbClr val="00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</a:rPr>
              <a:t>β = 2·Idsat / (V_WAT − |Vt|)²</a:t>
            </a:r>
            <a:endParaRPr lang="zh-TW" altLang="en-US" sz="1700" b="1">
              <a:solidFill>
                <a:srgbClr val="000000"/>
              </a:solidFill>
              <a:latin typeface="Times New Roman" panose="02020603050405020304" pitchFamily="18" charset="0"/>
              <a:ea typeface="Microsoft JhengHei" panose="020B0604030504040204" pitchFamily="34" charset="-120"/>
            </a:endParaRPr>
          </a:p>
        </p:txBody>
      </p: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BE9279F7-7DBB-12A6-09AD-66DEBA1E072C}"/>
              </a:ext>
            </a:extLst>
          </p:cNvPr>
          <p:cNvSpPr txBox="1"/>
          <p:nvPr/>
        </p:nvSpPr>
        <p:spPr>
          <a:xfrm>
            <a:off x="7874000" y="5943600"/>
            <a:ext cx="393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TW" sz="1100">
                <a:solidFill>
                  <a:srgbClr val="6666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V_WAT </a:t>
            </a:r>
            <a:r>
              <a:rPr lang="zh-TW" altLang="en-US" sz="1100">
                <a:solidFill>
                  <a:srgbClr val="6666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是 </a:t>
            </a:r>
            <a:r>
              <a:rPr lang="en-US" altLang="zh-TW" sz="1100">
                <a:solidFill>
                  <a:srgbClr val="6666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Idsat </a:t>
            </a:r>
            <a:r>
              <a:rPr lang="zh-TW" altLang="en-US" sz="1100">
                <a:solidFill>
                  <a:srgbClr val="6666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量測偏壓（校正 </a:t>
            </a:r>
            <a:r>
              <a:rPr lang="en-US" altLang="zh-TW" sz="1100">
                <a:solidFill>
                  <a:srgbClr val="6666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VGS</a:t>
            </a:r>
            <a:r>
              <a:rPr lang="zh-TW" altLang="en-US" sz="1100">
                <a:solidFill>
                  <a:srgbClr val="6666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），不是 </a:t>
            </a:r>
            <a:r>
              <a:rPr lang="en-US" altLang="zh-TW" sz="1100">
                <a:solidFill>
                  <a:srgbClr val="6666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Vt</a:t>
            </a:r>
            <a:r>
              <a:rPr lang="zh-TW" altLang="en-US" sz="1100">
                <a:solidFill>
                  <a:srgbClr val="6666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。</a:t>
            </a:r>
          </a:p>
        </p:txBody>
      </p:sp>
      <p:cxnSp>
        <p:nvCxnSpPr>
          <p:cNvPr id="53" name="直線接點 52">
            <a:extLst>
              <a:ext uri="{FF2B5EF4-FFF2-40B4-BE49-F238E27FC236}">
                <a16:creationId xmlns:a16="http://schemas.microsoft.com/office/drawing/2014/main" id="{DE3763B4-D1BD-6F32-3EBF-2E21C6248ACF}"/>
              </a:ext>
            </a:extLst>
          </p:cNvPr>
          <p:cNvCxnSpPr/>
          <p:nvPr/>
        </p:nvCxnSpPr>
        <p:spPr>
          <a:xfrm>
            <a:off x="381000" y="6438900"/>
            <a:ext cx="11430000" cy="0"/>
          </a:xfrm>
          <a:prstGeom prst="line">
            <a:avLst/>
          </a:prstGeom>
          <a:ln w="10160">
            <a:solidFill>
              <a:srgbClr val="B8BE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文字方塊 53">
            <a:extLst>
              <a:ext uri="{FF2B5EF4-FFF2-40B4-BE49-F238E27FC236}">
                <a16:creationId xmlns:a16="http://schemas.microsoft.com/office/drawing/2014/main" id="{82FFF3ED-13AC-593E-25C6-214437751891}"/>
              </a:ext>
            </a:extLst>
          </p:cNvPr>
          <p:cNvSpPr txBox="1"/>
          <p:nvPr/>
        </p:nvSpPr>
        <p:spPr>
          <a:xfrm>
            <a:off x="381000" y="6515100"/>
            <a:ext cx="508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TW" sz="800">
                <a:solidFill>
                  <a:srgbClr val="6666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HV28 SRAM Analysis · WAT-calibrated trend model</a:t>
            </a:r>
            <a:endParaRPr lang="zh-TW" altLang="en-US" sz="800">
              <a:solidFill>
                <a:srgbClr val="6666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55" name="文字方塊 54">
            <a:extLst>
              <a:ext uri="{FF2B5EF4-FFF2-40B4-BE49-F238E27FC236}">
                <a16:creationId xmlns:a16="http://schemas.microsoft.com/office/drawing/2014/main" id="{3C4EE78C-9DD7-97A6-C2BC-784FDC418935}"/>
              </a:ext>
            </a:extLst>
          </p:cNvPr>
          <p:cNvSpPr txBox="1"/>
          <p:nvPr/>
        </p:nvSpPr>
        <p:spPr>
          <a:xfrm>
            <a:off x="11430000" y="6515100"/>
            <a:ext cx="38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zh-TW" sz="800">
                <a:solidFill>
                  <a:srgbClr val="666666"/>
                </a:solidFill>
                <a:latin typeface="Arial" panose="020B0604020202020204" pitchFamily="34" charset="0"/>
                <a:ea typeface="Microsoft JhengHei" panose="020B0604030504040204" pitchFamily="34" charset="-120"/>
              </a:rPr>
              <a:t>3</a:t>
            </a:r>
            <a:endParaRPr lang="zh-TW" altLang="en-US" sz="800">
              <a:solidFill>
                <a:srgbClr val="666666"/>
              </a:solidFill>
              <a:latin typeface="Arial" panose="020B0604020202020204" pitchFamily="34" charset="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622158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E79AB5C5-A93A-C69E-D44B-90EC2F2DE160}"/>
              </a:ext>
            </a:extLst>
          </p:cNvPr>
          <p:cNvSpPr txBox="1"/>
          <p:nvPr/>
        </p:nvSpPr>
        <p:spPr>
          <a:xfrm>
            <a:off x="381000" y="254000"/>
            <a:ext cx="1143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TW" sz="3500" b="1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Read SNM</a:t>
            </a:r>
            <a:r>
              <a:rPr lang="zh-TW" altLang="en-US" sz="3500" b="1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：由讀取 </a:t>
            </a:r>
            <a:r>
              <a:rPr lang="en-US" altLang="zh-TW" sz="3500" b="1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VTC </a:t>
            </a:r>
            <a:r>
              <a:rPr lang="zh-TW" altLang="en-US" sz="3500" b="1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取得上下眼限制值</a:t>
            </a:r>
          </a:p>
        </p:txBody>
      </p:sp>
      <p:cxnSp>
        <p:nvCxnSpPr>
          <p:cNvPr id="3" name="直線接點 2">
            <a:extLst>
              <a:ext uri="{FF2B5EF4-FFF2-40B4-BE49-F238E27FC236}">
                <a16:creationId xmlns:a16="http://schemas.microsoft.com/office/drawing/2014/main" id="{001B6408-FA59-DDD4-F5C3-B23434D12922}"/>
              </a:ext>
            </a:extLst>
          </p:cNvPr>
          <p:cNvCxnSpPr/>
          <p:nvPr/>
        </p:nvCxnSpPr>
        <p:spPr>
          <a:xfrm>
            <a:off x="381000" y="1054100"/>
            <a:ext cx="11430000" cy="0"/>
          </a:xfrm>
          <a:prstGeom prst="line">
            <a:avLst/>
          </a:prstGeom>
          <a:ln w="12700">
            <a:solidFill>
              <a:srgbClr val="B8BE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圖片 4">
            <a:extLst>
              <a:ext uri="{FF2B5EF4-FFF2-40B4-BE49-F238E27FC236}">
                <a16:creationId xmlns:a16="http://schemas.microsoft.com/office/drawing/2014/main" id="{A75116AD-C4EB-1D77-B00D-67FDDE21267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500" y="1817864"/>
            <a:ext cx="6350000" cy="3615972"/>
          </a:xfrm>
          <a:prstGeom prst="rect">
            <a:avLst/>
          </a:prstGeom>
        </p:spPr>
      </p:pic>
      <p:cxnSp>
        <p:nvCxnSpPr>
          <p:cNvPr id="6" name="直線接點 5">
            <a:extLst>
              <a:ext uri="{FF2B5EF4-FFF2-40B4-BE49-F238E27FC236}">
                <a16:creationId xmlns:a16="http://schemas.microsoft.com/office/drawing/2014/main" id="{07D05B28-544C-1C75-0507-16917592083B}"/>
              </a:ext>
            </a:extLst>
          </p:cNvPr>
          <p:cNvCxnSpPr/>
          <p:nvPr/>
        </p:nvCxnSpPr>
        <p:spPr>
          <a:xfrm flipH="1">
            <a:off x="5765800" y="1752600"/>
            <a:ext cx="914400" cy="698500"/>
          </a:xfrm>
          <a:prstGeom prst="line">
            <a:avLst/>
          </a:prstGeom>
          <a:ln w="15240">
            <a:solidFill>
              <a:srgbClr val="3D8D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>
            <a:extLst>
              <a:ext uri="{FF2B5EF4-FFF2-40B4-BE49-F238E27FC236}">
                <a16:creationId xmlns:a16="http://schemas.microsoft.com/office/drawing/2014/main" id="{8EC11BCF-1E51-5703-4AFD-8BC2D40B7654}"/>
              </a:ext>
            </a:extLst>
          </p:cNvPr>
          <p:cNvCxnSpPr/>
          <p:nvPr/>
        </p:nvCxnSpPr>
        <p:spPr>
          <a:xfrm flipH="1">
            <a:off x="3594100" y="2844800"/>
            <a:ext cx="3086100" cy="482600"/>
          </a:xfrm>
          <a:prstGeom prst="line">
            <a:avLst/>
          </a:prstGeom>
          <a:ln w="15240">
            <a:solidFill>
              <a:srgbClr val="66666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D1D83FE2-E7FE-A762-EE24-996C9E5BBCA3}"/>
              </a:ext>
            </a:extLst>
          </p:cNvPr>
          <p:cNvCxnSpPr/>
          <p:nvPr/>
        </p:nvCxnSpPr>
        <p:spPr>
          <a:xfrm flipH="1" flipV="1">
            <a:off x="5168900" y="3797300"/>
            <a:ext cx="1511300" cy="139700"/>
          </a:xfrm>
          <a:prstGeom prst="line">
            <a:avLst/>
          </a:prstGeom>
          <a:ln w="15240">
            <a:solidFill>
              <a:srgbClr val="66666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D5DE4DF7-55B3-2FF9-B4E2-4EA840F8BFD5}"/>
              </a:ext>
            </a:extLst>
          </p:cNvPr>
          <p:cNvCxnSpPr/>
          <p:nvPr/>
        </p:nvCxnSpPr>
        <p:spPr>
          <a:xfrm flipH="1" flipV="1">
            <a:off x="5029200" y="4267200"/>
            <a:ext cx="1651000" cy="762000"/>
          </a:xfrm>
          <a:prstGeom prst="line">
            <a:avLst/>
          </a:prstGeom>
          <a:ln w="15240">
            <a:solidFill>
              <a:srgbClr val="76C75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橢圓 9">
            <a:extLst>
              <a:ext uri="{FF2B5EF4-FFF2-40B4-BE49-F238E27FC236}">
                <a16:creationId xmlns:a16="http://schemas.microsoft.com/office/drawing/2014/main" id="{1BC95847-76C7-76AA-885D-EF53750D67F2}"/>
              </a:ext>
            </a:extLst>
          </p:cNvPr>
          <p:cNvSpPr/>
          <p:nvPr/>
        </p:nvSpPr>
        <p:spPr>
          <a:xfrm>
            <a:off x="6680200" y="1625600"/>
            <a:ext cx="266700" cy="266700"/>
          </a:xfrm>
          <a:prstGeom prst="ellipse">
            <a:avLst/>
          </a:prstGeom>
          <a:solidFill>
            <a:srgbClr val="6DCBF4"/>
          </a:solidFill>
          <a:ln w="15240">
            <a:solidFill>
              <a:srgbClr val="3D8D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sz="1200" b="1">
                <a:solidFill>
                  <a:srgbClr val="000000"/>
                </a:solidFill>
                <a:latin typeface="Arial" panose="020B0604020202020204" pitchFamily="34" charset="0"/>
              </a:rPr>
              <a:t>1</a:t>
            </a:r>
            <a:endParaRPr lang="zh-TW" altLang="en-US" sz="1200" b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BFAAF5D9-97CF-C983-DB99-C7BC37871B64}"/>
              </a:ext>
            </a:extLst>
          </p:cNvPr>
          <p:cNvSpPr/>
          <p:nvPr/>
        </p:nvSpPr>
        <p:spPr>
          <a:xfrm>
            <a:off x="6680200" y="2717800"/>
            <a:ext cx="266700" cy="266700"/>
          </a:xfrm>
          <a:prstGeom prst="ellipse">
            <a:avLst/>
          </a:prstGeom>
          <a:solidFill>
            <a:srgbClr val="EDEDED"/>
          </a:solidFill>
          <a:ln w="15240">
            <a:solidFill>
              <a:srgbClr val="6666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sz="1200" b="1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  <a:endParaRPr lang="zh-TW" altLang="en-US" sz="1200" b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D816637A-D516-3274-73CA-C3FA095DC207}"/>
              </a:ext>
            </a:extLst>
          </p:cNvPr>
          <p:cNvSpPr/>
          <p:nvPr/>
        </p:nvSpPr>
        <p:spPr>
          <a:xfrm>
            <a:off x="6680200" y="3810000"/>
            <a:ext cx="266700" cy="266700"/>
          </a:xfrm>
          <a:prstGeom prst="ellipse">
            <a:avLst/>
          </a:prstGeom>
          <a:solidFill>
            <a:srgbClr val="EDEDED"/>
          </a:solidFill>
          <a:ln w="15240">
            <a:solidFill>
              <a:srgbClr val="6666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sz="1200" b="1">
                <a:solidFill>
                  <a:srgbClr val="000000"/>
                </a:solidFill>
                <a:latin typeface="Arial" panose="020B0604020202020204" pitchFamily="34" charset="0"/>
              </a:rPr>
              <a:t>3</a:t>
            </a:r>
            <a:endParaRPr lang="zh-TW" altLang="en-US" sz="1200" b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4E7C4929-EEF8-A689-2D3A-0BAE9790897D}"/>
              </a:ext>
            </a:extLst>
          </p:cNvPr>
          <p:cNvSpPr/>
          <p:nvPr/>
        </p:nvSpPr>
        <p:spPr>
          <a:xfrm>
            <a:off x="6680200" y="4902200"/>
            <a:ext cx="266700" cy="266700"/>
          </a:xfrm>
          <a:prstGeom prst="ellipse">
            <a:avLst/>
          </a:prstGeom>
          <a:solidFill>
            <a:srgbClr val="EAF8EE"/>
          </a:solidFill>
          <a:ln w="15240">
            <a:solidFill>
              <a:srgbClr val="76C75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sz="1200" b="1">
                <a:solidFill>
                  <a:srgbClr val="000000"/>
                </a:solidFill>
                <a:latin typeface="Arial" panose="020B0604020202020204" pitchFamily="34" charset="0"/>
              </a:rPr>
              <a:t>4</a:t>
            </a:r>
            <a:endParaRPr lang="zh-TW" altLang="en-US" sz="1200" b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cxnSp>
        <p:nvCxnSpPr>
          <p:cNvPr id="14" name="直線接點 13">
            <a:extLst>
              <a:ext uri="{FF2B5EF4-FFF2-40B4-BE49-F238E27FC236}">
                <a16:creationId xmlns:a16="http://schemas.microsoft.com/office/drawing/2014/main" id="{E9663E7C-CA4E-CDCB-8463-D66D39EE5237}"/>
              </a:ext>
            </a:extLst>
          </p:cNvPr>
          <p:cNvCxnSpPr/>
          <p:nvPr/>
        </p:nvCxnSpPr>
        <p:spPr>
          <a:xfrm>
            <a:off x="9550400" y="2209800"/>
            <a:ext cx="0" cy="279400"/>
          </a:xfrm>
          <a:prstGeom prst="line">
            <a:avLst/>
          </a:prstGeom>
          <a:ln w="19050">
            <a:solidFill>
              <a:srgbClr val="B8BEC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EB12C510-96CC-6EB6-5AF0-BB87768EB2EA}"/>
              </a:ext>
            </a:extLst>
          </p:cNvPr>
          <p:cNvCxnSpPr/>
          <p:nvPr/>
        </p:nvCxnSpPr>
        <p:spPr>
          <a:xfrm>
            <a:off x="9550400" y="3302000"/>
            <a:ext cx="0" cy="279400"/>
          </a:xfrm>
          <a:prstGeom prst="line">
            <a:avLst/>
          </a:prstGeom>
          <a:ln w="19050">
            <a:solidFill>
              <a:srgbClr val="B8BEC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72001BB8-73CD-BDF0-4283-6CC726E9E763}"/>
              </a:ext>
            </a:extLst>
          </p:cNvPr>
          <p:cNvCxnSpPr/>
          <p:nvPr/>
        </p:nvCxnSpPr>
        <p:spPr>
          <a:xfrm>
            <a:off x="9550400" y="4394200"/>
            <a:ext cx="0" cy="279400"/>
          </a:xfrm>
          <a:prstGeom prst="line">
            <a:avLst/>
          </a:prstGeom>
          <a:ln w="19050">
            <a:solidFill>
              <a:srgbClr val="B8BEC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>
            <a:extLst>
              <a:ext uri="{FF2B5EF4-FFF2-40B4-BE49-F238E27FC236}">
                <a16:creationId xmlns:a16="http://schemas.microsoft.com/office/drawing/2014/main" id="{5814AA80-FE03-73C4-01C4-02B115C0992D}"/>
              </a:ext>
            </a:extLst>
          </p:cNvPr>
          <p:cNvSpPr/>
          <p:nvPr/>
        </p:nvSpPr>
        <p:spPr>
          <a:xfrm>
            <a:off x="7302500" y="1371600"/>
            <a:ext cx="4508500" cy="838200"/>
          </a:xfrm>
          <a:prstGeom prst="rect">
            <a:avLst/>
          </a:prstGeom>
          <a:solidFill>
            <a:srgbClr val="6DCBF4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FFFFFF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0FCFED78-EF34-E6EB-B1A3-7C9FB4411E1E}"/>
              </a:ext>
            </a:extLst>
          </p:cNvPr>
          <p:cNvSpPr txBox="1"/>
          <p:nvPr/>
        </p:nvSpPr>
        <p:spPr>
          <a:xfrm>
            <a:off x="7543800" y="1511300"/>
            <a:ext cx="406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TW" altLang="en-US" sz="1600" b="1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① 讀取偏壓
</a:t>
            </a:r>
            <a:r>
              <a:rPr lang="en-US" altLang="zh-TW" sz="1600" b="1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WL=VDD</a:t>
            </a:r>
            <a:r>
              <a:rPr lang="zh-TW" altLang="en-US" sz="1600" b="1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，</a:t>
            </a:r>
            <a:r>
              <a:rPr lang="en-US" altLang="zh-TW" sz="1600" b="1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BL=BLB=VDD</a:t>
            </a:r>
            <a:endParaRPr lang="zh-TW" altLang="en-US" sz="1600" b="1">
              <a:solidFill>
                <a:srgbClr val="00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231B7DC-F19D-C784-0184-F08E02C485A1}"/>
              </a:ext>
            </a:extLst>
          </p:cNvPr>
          <p:cNvSpPr/>
          <p:nvPr/>
        </p:nvSpPr>
        <p:spPr>
          <a:xfrm>
            <a:off x="7302500" y="2489200"/>
            <a:ext cx="4508500" cy="812800"/>
          </a:xfrm>
          <a:prstGeom prst="rect">
            <a:avLst/>
          </a:prstGeom>
          <a:solidFill>
            <a:srgbClr val="EDEDED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FFFFFF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66FC8AED-4E3F-B40B-4583-70BBDAA579BB}"/>
              </a:ext>
            </a:extLst>
          </p:cNvPr>
          <p:cNvSpPr txBox="1"/>
          <p:nvPr/>
        </p:nvSpPr>
        <p:spPr>
          <a:xfrm>
            <a:off x="7543800" y="2628900"/>
            <a:ext cx="406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TW" altLang="en-US" sz="1600" b="1">
                <a:solidFill>
                  <a:srgbClr val="00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</a:rPr>
              <a:t>② 電流平衡
</a:t>
            </a:r>
            <a:r>
              <a:rPr lang="en-US" altLang="zh-TW" sz="1600" b="1">
                <a:solidFill>
                  <a:srgbClr val="00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</a:rPr>
              <a:t>F_R = I_PU − I_PD + I_PG = 0</a:t>
            </a:r>
            <a:endParaRPr lang="zh-TW" altLang="en-US" sz="1600" b="1">
              <a:solidFill>
                <a:srgbClr val="000000"/>
              </a:solidFill>
              <a:latin typeface="Times New Roman" panose="02020603050405020304" pitchFamily="18" charset="0"/>
              <a:ea typeface="Microsoft JhengHei" panose="020B0604030504040204" pitchFamily="34" charset="-120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F5A46F6-A217-A9F1-20FC-15E9302546C8}"/>
              </a:ext>
            </a:extLst>
          </p:cNvPr>
          <p:cNvSpPr/>
          <p:nvPr/>
        </p:nvSpPr>
        <p:spPr>
          <a:xfrm>
            <a:off x="7302500" y="3581400"/>
            <a:ext cx="4508500" cy="812800"/>
          </a:xfrm>
          <a:prstGeom prst="rect">
            <a:avLst/>
          </a:prstGeom>
          <a:solidFill>
            <a:srgbClr val="EDEDED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FFFFFF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814CC687-9D75-0975-E2F8-BCB17BD990ED}"/>
              </a:ext>
            </a:extLst>
          </p:cNvPr>
          <p:cNvSpPr txBox="1"/>
          <p:nvPr/>
        </p:nvSpPr>
        <p:spPr>
          <a:xfrm>
            <a:off x="7543800" y="3721100"/>
            <a:ext cx="406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TW" altLang="en-US" sz="1600" b="1">
                <a:solidFill>
                  <a:srgbClr val="00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</a:rPr>
              <a:t>③ 求解並鏡射
</a:t>
            </a:r>
            <a:r>
              <a:rPr lang="en-US" altLang="zh-TW" sz="1600" b="1">
                <a:solidFill>
                  <a:srgbClr val="00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</a:rPr>
              <a:t>Vout=f_R(Vin)</a:t>
            </a:r>
            <a:r>
              <a:rPr lang="zh-TW" altLang="en-US" sz="1600" b="1">
                <a:solidFill>
                  <a:srgbClr val="00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</a:rPr>
              <a:t>，</a:t>
            </a:r>
            <a:r>
              <a:rPr lang="en-US" altLang="zh-TW" sz="1600" b="1">
                <a:solidFill>
                  <a:srgbClr val="00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</a:rPr>
              <a:t>Vout=f_R⁻¹(Vin)</a:t>
            </a:r>
            <a:endParaRPr lang="zh-TW" altLang="en-US" sz="1600" b="1">
              <a:solidFill>
                <a:srgbClr val="000000"/>
              </a:solidFill>
              <a:latin typeface="Times New Roman" panose="02020603050405020304" pitchFamily="18" charset="0"/>
              <a:ea typeface="Microsoft JhengHei" panose="020B0604030504040204" pitchFamily="34" charset="-120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7B987E8-16F4-6B6E-091C-D6A5F023F096}"/>
              </a:ext>
            </a:extLst>
          </p:cNvPr>
          <p:cNvSpPr/>
          <p:nvPr/>
        </p:nvSpPr>
        <p:spPr>
          <a:xfrm>
            <a:off x="7302500" y="4673600"/>
            <a:ext cx="4508500" cy="914400"/>
          </a:xfrm>
          <a:prstGeom prst="rect">
            <a:avLst/>
          </a:prstGeom>
          <a:solidFill>
            <a:srgbClr val="EAF8EE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FFFFFF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53322731-8FDD-EE33-B891-79962B4F9BDA}"/>
              </a:ext>
            </a:extLst>
          </p:cNvPr>
          <p:cNvSpPr txBox="1"/>
          <p:nvPr/>
        </p:nvSpPr>
        <p:spPr>
          <a:xfrm>
            <a:off x="7543800" y="4813300"/>
            <a:ext cx="406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TW" sz="1700" b="1">
                <a:solidFill>
                  <a:srgbClr val="00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</a:rPr>
              <a:t>④ </a:t>
            </a:r>
            <a:r>
              <a:rPr lang="zh-TW" altLang="en-US" sz="1700" b="1">
                <a:solidFill>
                  <a:srgbClr val="00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</a:rPr>
              <a:t>限制方形
</a:t>
            </a:r>
            <a:r>
              <a:rPr lang="en-US" altLang="zh-TW" sz="1700" b="1">
                <a:solidFill>
                  <a:srgbClr val="00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</a:rPr>
              <a:t>RSNM = min(S_upper</a:t>
            </a:r>
            <a:r>
              <a:rPr lang="zh-TW" altLang="en-US" sz="1700" b="1">
                <a:solidFill>
                  <a:srgbClr val="00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</a:rPr>
              <a:t>，</a:t>
            </a:r>
            <a:r>
              <a:rPr lang="en-US" altLang="zh-TW" sz="1700" b="1">
                <a:solidFill>
                  <a:srgbClr val="00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</a:rPr>
              <a:t>S_lower)</a:t>
            </a:r>
            <a:endParaRPr lang="zh-TW" altLang="en-US" sz="1700" b="1">
              <a:solidFill>
                <a:srgbClr val="000000"/>
              </a:solidFill>
              <a:latin typeface="Times New Roman" panose="02020603050405020304" pitchFamily="18" charset="0"/>
              <a:ea typeface="Microsoft JhengHei" panose="020B0604030504040204" pitchFamily="34" charset="-120"/>
            </a:endParaRP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2F14796E-B28E-D141-48A6-F2BD3C4AE894}"/>
              </a:ext>
            </a:extLst>
          </p:cNvPr>
          <p:cNvSpPr txBox="1"/>
          <p:nvPr/>
        </p:nvSpPr>
        <p:spPr>
          <a:xfrm>
            <a:off x="444500" y="5969000"/>
            <a:ext cx="1136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zh-TW" altLang="en-US" sz="1300" b="1">
                <a:solidFill>
                  <a:srgbClr val="6666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圖形對照：①作用於整張圖；②實線 </a:t>
            </a:r>
            <a:r>
              <a:rPr lang="en-US" altLang="zh-TW" sz="1300" b="1">
                <a:solidFill>
                  <a:srgbClr val="6666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VTC</a:t>
            </a:r>
            <a:r>
              <a:rPr lang="zh-TW" altLang="en-US" sz="1300" b="1">
                <a:solidFill>
                  <a:srgbClr val="6666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；③鏡射虛線 </a:t>
            </a:r>
            <a:r>
              <a:rPr lang="en-US" altLang="zh-TW" sz="1300" b="1">
                <a:solidFill>
                  <a:srgbClr val="6666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VTC</a:t>
            </a:r>
            <a:r>
              <a:rPr lang="zh-TW" altLang="en-US" sz="1300" b="1">
                <a:solidFill>
                  <a:srgbClr val="6666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；④上下眼方形，較小邊長為 </a:t>
            </a:r>
            <a:r>
              <a:rPr lang="en-US" altLang="zh-TW" sz="1300" b="1">
                <a:solidFill>
                  <a:srgbClr val="6666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cell RSNM</a:t>
            </a:r>
            <a:r>
              <a:rPr lang="zh-TW" altLang="en-US" sz="1300" b="1">
                <a:solidFill>
                  <a:srgbClr val="6666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。</a:t>
            </a:r>
          </a:p>
        </p:txBody>
      </p:sp>
      <p:cxnSp>
        <p:nvCxnSpPr>
          <p:cNvPr id="26" name="直線接點 25">
            <a:extLst>
              <a:ext uri="{FF2B5EF4-FFF2-40B4-BE49-F238E27FC236}">
                <a16:creationId xmlns:a16="http://schemas.microsoft.com/office/drawing/2014/main" id="{97E49E03-F57C-3DA4-2A08-E7EFDCEB20E9}"/>
              </a:ext>
            </a:extLst>
          </p:cNvPr>
          <p:cNvCxnSpPr/>
          <p:nvPr/>
        </p:nvCxnSpPr>
        <p:spPr>
          <a:xfrm>
            <a:off x="381000" y="6438900"/>
            <a:ext cx="11430000" cy="0"/>
          </a:xfrm>
          <a:prstGeom prst="line">
            <a:avLst/>
          </a:prstGeom>
          <a:ln w="10160">
            <a:solidFill>
              <a:srgbClr val="B8BE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4931AC94-E494-ADE6-7909-FF89182FDA33}"/>
              </a:ext>
            </a:extLst>
          </p:cNvPr>
          <p:cNvSpPr txBox="1"/>
          <p:nvPr/>
        </p:nvSpPr>
        <p:spPr>
          <a:xfrm>
            <a:off x="381000" y="6515100"/>
            <a:ext cx="508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TW" sz="800">
                <a:solidFill>
                  <a:srgbClr val="6666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HV28 SRAM Analysis · WAT-calibrated trend model</a:t>
            </a:r>
            <a:endParaRPr lang="zh-TW" altLang="en-US" sz="800">
              <a:solidFill>
                <a:srgbClr val="6666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E0E7AAEC-8923-D39E-9C17-D759996D8FFB}"/>
              </a:ext>
            </a:extLst>
          </p:cNvPr>
          <p:cNvSpPr txBox="1"/>
          <p:nvPr/>
        </p:nvSpPr>
        <p:spPr>
          <a:xfrm>
            <a:off x="11430000" y="6515100"/>
            <a:ext cx="38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zh-TW" sz="800">
                <a:solidFill>
                  <a:srgbClr val="666666"/>
                </a:solidFill>
                <a:latin typeface="Arial" panose="020B0604020202020204" pitchFamily="34" charset="0"/>
                <a:ea typeface="Microsoft JhengHei" panose="020B0604030504040204" pitchFamily="34" charset="-120"/>
              </a:rPr>
              <a:t>4</a:t>
            </a:r>
            <a:endParaRPr lang="zh-TW" altLang="en-US" sz="800">
              <a:solidFill>
                <a:srgbClr val="666666"/>
              </a:solidFill>
              <a:latin typeface="Arial" panose="020B0604020202020204" pitchFamily="34" charset="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588022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5276F8A8-8368-6E07-E647-28BE59D7FB0D}"/>
              </a:ext>
            </a:extLst>
          </p:cNvPr>
          <p:cNvSpPr txBox="1"/>
          <p:nvPr/>
        </p:nvSpPr>
        <p:spPr>
          <a:xfrm>
            <a:off x="381000" y="254000"/>
            <a:ext cx="1143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TW" sz="3500" b="1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Write SNM</a:t>
            </a:r>
            <a:r>
              <a:rPr lang="zh-TW" altLang="en-US" sz="3500" b="1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：寫入 </a:t>
            </a:r>
            <a:r>
              <a:rPr lang="en-US" altLang="zh-TW" sz="3500" b="1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VTC </a:t>
            </a:r>
            <a:r>
              <a:rPr lang="zh-TW" altLang="en-US" sz="3500" b="1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決定方形與翻轉邊界</a:t>
            </a:r>
          </a:p>
        </p:txBody>
      </p:sp>
      <p:cxnSp>
        <p:nvCxnSpPr>
          <p:cNvPr id="3" name="直線接點 2">
            <a:extLst>
              <a:ext uri="{FF2B5EF4-FFF2-40B4-BE49-F238E27FC236}">
                <a16:creationId xmlns:a16="http://schemas.microsoft.com/office/drawing/2014/main" id="{13F6CBE2-575C-59DF-B22D-CB67E9745DCB}"/>
              </a:ext>
            </a:extLst>
          </p:cNvPr>
          <p:cNvCxnSpPr/>
          <p:nvPr/>
        </p:nvCxnSpPr>
        <p:spPr>
          <a:xfrm>
            <a:off x="381000" y="1054100"/>
            <a:ext cx="11430000" cy="0"/>
          </a:xfrm>
          <a:prstGeom prst="line">
            <a:avLst/>
          </a:prstGeom>
          <a:ln w="12700">
            <a:solidFill>
              <a:srgbClr val="B8BE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圖片 4">
            <a:extLst>
              <a:ext uri="{FF2B5EF4-FFF2-40B4-BE49-F238E27FC236}">
                <a16:creationId xmlns:a16="http://schemas.microsoft.com/office/drawing/2014/main" id="{D6CB2C4A-789C-EE78-9E5D-38B1E3BB882B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5194" y="1371600"/>
            <a:ext cx="4268611" cy="4508500"/>
          </a:xfrm>
          <a:prstGeom prst="rect">
            <a:avLst/>
          </a:prstGeom>
        </p:spPr>
      </p:pic>
      <p:cxnSp>
        <p:nvCxnSpPr>
          <p:cNvPr id="6" name="直線接點 5">
            <a:extLst>
              <a:ext uri="{FF2B5EF4-FFF2-40B4-BE49-F238E27FC236}">
                <a16:creationId xmlns:a16="http://schemas.microsoft.com/office/drawing/2014/main" id="{03F124DD-D62D-55ED-94D2-8A8ED53012FC}"/>
              </a:ext>
            </a:extLst>
          </p:cNvPr>
          <p:cNvCxnSpPr/>
          <p:nvPr/>
        </p:nvCxnSpPr>
        <p:spPr>
          <a:xfrm flipH="1" flipV="1">
            <a:off x="5740400" y="1663700"/>
            <a:ext cx="939800" cy="88900"/>
          </a:xfrm>
          <a:prstGeom prst="line">
            <a:avLst/>
          </a:prstGeom>
          <a:ln w="15240">
            <a:solidFill>
              <a:srgbClr val="3D8D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>
            <a:extLst>
              <a:ext uri="{FF2B5EF4-FFF2-40B4-BE49-F238E27FC236}">
                <a16:creationId xmlns:a16="http://schemas.microsoft.com/office/drawing/2014/main" id="{0A873A3F-09CC-BB9C-F6C2-765397463357}"/>
              </a:ext>
            </a:extLst>
          </p:cNvPr>
          <p:cNvCxnSpPr/>
          <p:nvPr/>
        </p:nvCxnSpPr>
        <p:spPr>
          <a:xfrm flipH="1" flipV="1">
            <a:off x="4775200" y="1727200"/>
            <a:ext cx="1905000" cy="1117600"/>
          </a:xfrm>
          <a:prstGeom prst="line">
            <a:avLst/>
          </a:prstGeom>
          <a:ln w="15240">
            <a:solidFill>
              <a:srgbClr val="66666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F6CABE56-BDC8-70B1-5F1C-B7F058233960}"/>
              </a:ext>
            </a:extLst>
          </p:cNvPr>
          <p:cNvCxnSpPr/>
          <p:nvPr/>
        </p:nvCxnSpPr>
        <p:spPr>
          <a:xfrm flipH="1" flipV="1">
            <a:off x="3632200" y="3556000"/>
            <a:ext cx="3048000" cy="381000"/>
          </a:xfrm>
          <a:prstGeom prst="line">
            <a:avLst/>
          </a:prstGeom>
          <a:ln w="15240">
            <a:solidFill>
              <a:srgbClr val="FF8C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151939B8-92D8-9AA5-4663-786289F4967F}"/>
              </a:ext>
            </a:extLst>
          </p:cNvPr>
          <p:cNvCxnSpPr/>
          <p:nvPr/>
        </p:nvCxnSpPr>
        <p:spPr>
          <a:xfrm flipH="1" flipV="1">
            <a:off x="2882900" y="4305300"/>
            <a:ext cx="3797300" cy="723900"/>
          </a:xfrm>
          <a:prstGeom prst="line">
            <a:avLst/>
          </a:prstGeom>
          <a:ln w="15240">
            <a:solidFill>
              <a:srgbClr val="FF8C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橢圓 9">
            <a:extLst>
              <a:ext uri="{FF2B5EF4-FFF2-40B4-BE49-F238E27FC236}">
                <a16:creationId xmlns:a16="http://schemas.microsoft.com/office/drawing/2014/main" id="{94693DEF-CBCD-FA18-1CCD-2714CC56E8C3}"/>
              </a:ext>
            </a:extLst>
          </p:cNvPr>
          <p:cNvSpPr/>
          <p:nvPr/>
        </p:nvSpPr>
        <p:spPr>
          <a:xfrm>
            <a:off x="6680200" y="1625600"/>
            <a:ext cx="266700" cy="266700"/>
          </a:xfrm>
          <a:prstGeom prst="ellipse">
            <a:avLst/>
          </a:prstGeom>
          <a:solidFill>
            <a:srgbClr val="6DCBF4"/>
          </a:solidFill>
          <a:ln w="15240">
            <a:solidFill>
              <a:srgbClr val="3D8D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sz="1200" b="1">
                <a:solidFill>
                  <a:srgbClr val="000000"/>
                </a:solidFill>
                <a:latin typeface="Arial" panose="020B0604020202020204" pitchFamily="34" charset="0"/>
              </a:rPr>
              <a:t>1</a:t>
            </a:r>
            <a:endParaRPr lang="zh-TW" altLang="en-US" sz="1200" b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7F6D314B-7ACF-B78D-555E-510579A113C8}"/>
              </a:ext>
            </a:extLst>
          </p:cNvPr>
          <p:cNvSpPr/>
          <p:nvPr/>
        </p:nvSpPr>
        <p:spPr>
          <a:xfrm>
            <a:off x="6680200" y="2717800"/>
            <a:ext cx="266700" cy="266700"/>
          </a:xfrm>
          <a:prstGeom prst="ellipse">
            <a:avLst/>
          </a:prstGeom>
          <a:solidFill>
            <a:srgbClr val="EDEDED"/>
          </a:solidFill>
          <a:ln w="15240">
            <a:solidFill>
              <a:srgbClr val="6666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sz="1200" b="1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  <a:endParaRPr lang="zh-TW" altLang="en-US" sz="1200" b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C374BB25-4C3A-9116-4B70-6033F73FE86A}"/>
              </a:ext>
            </a:extLst>
          </p:cNvPr>
          <p:cNvSpPr/>
          <p:nvPr/>
        </p:nvSpPr>
        <p:spPr>
          <a:xfrm>
            <a:off x="6680200" y="3810000"/>
            <a:ext cx="266700" cy="266700"/>
          </a:xfrm>
          <a:prstGeom prst="ellipse">
            <a:avLst/>
          </a:prstGeom>
          <a:solidFill>
            <a:srgbClr val="EDEDED"/>
          </a:solidFill>
          <a:ln w="15240">
            <a:solidFill>
              <a:srgbClr val="FF8C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sz="1200" b="1">
                <a:solidFill>
                  <a:srgbClr val="000000"/>
                </a:solidFill>
                <a:latin typeface="Arial" panose="020B0604020202020204" pitchFamily="34" charset="0"/>
              </a:rPr>
              <a:t>3</a:t>
            </a:r>
            <a:endParaRPr lang="zh-TW" altLang="en-US" sz="1200" b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7167369A-BF30-51C9-17D7-BF4D0FF0CBE5}"/>
              </a:ext>
            </a:extLst>
          </p:cNvPr>
          <p:cNvSpPr/>
          <p:nvPr/>
        </p:nvSpPr>
        <p:spPr>
          <a:xfrm>
            <a:off x="6680200" y="4902200"/>
            <a:ext cx="266700" cy="266700"/>
          </a:xfrm>
          <a:prstGeom prst="ellipse">
            <a:avLst/>
          </a:prstGeom>
          <a:solidFill>
            <a:srgbClr val="EAF2FF"/>
          </a:solidFill>
          <a:ln w="15240">
            <a:solidFill>
              <a:srgbClr val="FF8C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sz="1200" b="1">
                <a:solidFill>
                  <a:srgbClr val="000000"/>
                </a:solidFill>
                <a:latin typeface="Arial" panose="020B0604020202020204" pitchFamily="34" charset="0"/>
              </a:rPr>
              <a:t>4</a:t>
            </a:r>
            <a:endParaRPr lang="zh-TW" altLang="en-US" sz="1200" b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cxnSp>
        <p:nvCxnSpPr>
          <p:cNvPr id="14" name="直線接點 13">
            <a:extLst>
              <a:ext uri="{FF2B5EF4-FFF2-40B4-BE49-F238E27FC236}">
                <a16:creationId xmlns:a16="http://schemas.microsoft.com/office/drawing/2014/main" id="{298BC77D-B2C8-5AC7-BC22-1BE29E85997C}"/>
              </a:ext>
            </a:extLst>
          </p:cNvPr>
          <p:cNvCxnSpPr/>
          <p:nvPr/>
        </p:nvCxnSpPr>
        <p:spPr>
          <a:xfrm>
            <a:off x="9550400" y="2209800"/>
            <a:ext cx="0" cy="279400"/>
          </a:xfrm>
          <a:prstGeom prst="line">
            <a:avLst/>
          </a:prstGeom>
          <a:ln w="19050">
            <a:solidFill>
              <a:srgbClr val="B8BEC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4C138EC1-DFF7-2259-2544-FAD0B6ACA7F9}"/>
              </a:ext>
            </a:extLst>
          </p:cNvPr>
          <p:cNvCxnSpPr/>
          <p:nvPr/>
        </p:nvCxnSpPr>
        <p:spPr>
          <a:xfrm>
            <a:off x="9550400" y="3302000"/>
            <a:ext cx="0" cy="279400"/>
          </a:xfrm>
          <a:prstGeom prst="line">
            <a:avLst/>
          </a:prstGeom>
          <a:ln w="19050">
            <a:solidFill>
              <a:srgbClr val="B8BEC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E6384153-35EE-CA6B-4046-06EEE0756996}"/>
              </a:ext>
            </a:extLst>
          </p:cNvPr>
          <p:cNvCxnSpPr/>
          <p:nvPr/>
        </p:nvCxnSpPr>
        <p:spPr>
          <a:xfrm>
            <a:off x="9550400" y="4394200"/>
            <a:ext cx="0" cy="279400"/>
          </a:xfrm>
          <a:prstGeom prst="line">
            <a:avLst/>
          </a:prstGeom>
          <a:ln w="19050">
            <a:solidFill>
              <a:srgbClr val="B8BEC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>
            <a:extLst>
              <a:ext uri="{FF2B5EF4-FFF2-40B4-BE49-F238E27FC236}">
                <a16:creationId xmlns:a16="http://schemas.microsoft.com/office/drawing/2014/main" id="{C052EFE0-8049-8E0A-3013-DEB5BD38894A}"/>
              </a:ext>
            </a:extLst>
          </p:cNvPr>
          <p:cNvSpPr/>
          <p:nvPr/>
        </p:nvSpPr>
        <p:spPr>
          <a:xfrm>
            <a:off x="7302500" y="1371600"/>
            <a:ext cx="4508500" cy="838200"/>
          </a:xfrm>
          <a:prstGeom prst="rect">
            <a:avLst/>
          </a:prstGeom>
          <a:solidFill>
            <a:srgbClr val="6DCBF4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FFFFFF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234936E6-D0A3-9D2F-756D-436FAC47719D}"/>
              </a:ext>
            </a:extLst>
          </p:cNvPr>
          <p:cNvSpPr txBox="1"/>
          <p:nvPr/>
        </p:nvSpPr>
        <p:spPr>
          <a:xfrm>
            <a:off x="7543800" y="1511300"/>
            <a:ext cx="406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TW" altLang="en-US" sz="1600" b="1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① 寫入 </a:t>
            </a:r>
            <a:r>
              <a:rPr lang="en-US" altLang="zh-TW" sz="1600" b="1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0 </a:t>
            </a:r>
            <a:r>
              <a:rPr lang="zh-TW" altLang="en-US" sz="1600" b="1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偏壓
</a:t>
            </a:r>
            <a:r>
              <a:rPr lang="en-US" altLang="zh-TW" sz="1600" b="1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WL=VDD</a:t>
            </a:r>
            <a:r>
              <a:rPr lang="zh-TW" altLang="en-US" sz="1600" b="1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，</a:t>
            </a:r>
            <a:r>
              <a:rPr lang="en-US" altLang="zh-TW" sz="1600" b="1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BL=0</a:t>
            </a:r>
            <a:r>
              <a:rPr lang="zh-TW" altLang="en-US" sz="1600" b="1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，</a:t>
            </a:r>
            <a:r>
              <a:rPr lang="en-US" altLang="zh-TW" sz="1600" b="1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BLB=VDD</a:t>
            </a:r>
            <a:endParaRPr lang="zh-TW" altLang="en-US" sz="1600" b="1">
              <a:solidFill>
                <a:srgbClr val="00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7F5ED9A-9D57-CD7C-8477-D3218B29D0D0}"/>
              </a:ext>
            </a:extLst>
          </p:cNvPr>
          <p:cNvSpPr/>
          <p:nvPr/>
        </p:nvSpPr>
        <p:spPr>
          <a:xfrm>
            <a:off x="7302500" y="2489200"/>
            <a:ext cx="4508500" cy="812800"/>
          </a:xfrm>
          <a:prstGeom prst="rect">
            <a:avLst/>
          </a:prstGeom>
          <a:solidFill>
            <a:srgbClr val="EDEDED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FFFFFF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34746F6C-BE97-5FEE-9E2B-E1C4345FEF37}"/>
              </a:ext>
            </a:extLst>
          </p:cNvPr>
          <p:cNvSpPr txBox="1"/>
          <p:nvPr/>
        </p:nvSpPr>
        <p:spPr>
          <a:xfrm>
            <a:off x="7543800" y="2628900"/>
            <a:ext cx="406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TW" altLang="en-US" sz="1600" b="1">
                <a:solidFill>
                  <a:srgbClr val="00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</a:rPr>
              <a:t>② 兩條寫入 </a:t>
            </a:r>
            <a:r>
              <a:rPr lang="en-US" altLang="zh-TW" sz="1600" b="1">
                <a:solidFill>
                  <a:srgbClr val="00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</a:rPr>
              <a:t>VTC
Vout=f_W(Vin</a:t>
            </a:r>
            <a:r>
              <a:rPr lang="zh-TW" altLang="en-US" sz="1600" b="1">
                <a:solidFill>
                  <a:srgbClr val="00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</a:rPr>
              <a:t>；</a:t>
            </a:r>
            <a:r>
              <a:rPr lang="en-US" altLang="zh-TW" sz="1600" b="1">
                <a:solidFill>
                  <a:srgbClr val="00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</a:rPr>
              <a:t>BL / BLB)</a:t>
            </a:r>
            <a:endParaRPr lang="zh-TW" altLang="en-US" sz="1600" b="1">
              <a:solidFill>
                <a:srgbClr val="000000"/>
              </a:solidFill>
              <a:latin typeface="Times New Roman" panose="02020603050405020304" pitchFamily="18" charset="0"/>
              <a:ea typeface="Microsoft JhengHei" panose="020B0604030504040204" pitchFamily="34" charset="-120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D4A48A6-0A08-3B71-FEAF-A6FC81F1466E}"/>
              </a:ext>
            </a:extLst>
          </p:cNvPr>
          <p:cNvSpPr/>
          <p:nvPr/>
        </p:nvSpPr>
        <p:spPr>
          <a:xfrm>
            <a:off x="7302500" y="3581400"/>
            <a:ext cx="4508500" cy="812800"/>
          </a:xfrm>
          <a:prstGeom prst="rect">
            <a:avLst/>
          </a:prstGeom>
          <a:solidFill>
            <a:srgbClr val="EDEDED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FFFFFF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4E9F9002-F36E-E5CF-3661-DC76871012EA}"/>
              </a:ext>
            </a:extLst>
          </p:cNvPr>
          <p:cNvSpPr txBox="1"/>
          <p:nvPr/>
        </p:nvSpPr>
        <p:spPr>
          <a:xfrm>
            <a:off x="7543800" y="3721100"/>
            <a:ext cx="406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TW" altLang="en-US" sz="1600" b="1">
                <a:solidFill>
                  <a:srgbClr val="00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</a:rPr>
              <a:t>③ 對角交點
</a:t>
            </a:r>
            <a:r>
              <a:rPr lang="en-US" altLang="zh-TW" sz="1600" b="1">
                <a:solidFill>
                  <a:srgbClr val="00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</a:rPr>
              <a:t>f_low(V_L)=V_L</a:t>
            </a:r>
            <a:r>
              <a:rPr lang="zh-TW" altLang="en-US" sz="1600" b="1">
                <a:solidFill>
                  <a:srgbClr val="00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</a:rPr>
              <a:t>，</a:t>
            </a:r>
            <a:r>
              <a:rPr lang="en-US" altLang="zh-TW" sz="1600" b="1">
                <a:solidFill>
                  <a:srgbClr val="00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</a:rPr>
              <a:t>f_high(V_H)=V_H</a:t>
            </a:r>
            <a:endParaRPr lang="zh-TW" altLang="en-US" sz="1600" b="1">
              <a:solidFill>
                <a:srgbClr val="000000"/>
              </a:solidFill>
              <a:latin typeface="Times New Roman" panose="02020603050405020304" pitchFamily="18" charset="0"/>
              <a:ea typeface="Microsoft JhengHei" panose="020B0604030504040204" pitchFamily="34" charset="-120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57BB188-86D5-BAA8-9DA0-B4BE61FF52DC}"/>
              </a:ext>
            </a:extLst>
          </p:cNvPr>
          <p:cNvSpPr/>
          <p:nvPr/>
        </p:nvSpPr>
        <p:spPr>
          <a:xfrm>
            <a:off x="7302500" y="4673600"/>
            <a:ext cx="4508500" cy="914400"/>
          </a:xfrm>
          <a:prstGeom prst="rect">
            <a:avLst/>
          </a:prstGeom>
          <a:solidFill>
            <a:srgbClr val="EAF2FF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FFFFFF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C8F75362-CE1F-5A32-C001-2268BEA4EDDE}"/>
              </a:ext>
            </a:extLst>
          </p:cNvPr>
          <p:cNvSpPr txBox="1"/>
          <p:nvPr/>
        </p:nvSpPr>
        <p:spPr>
          <a:xfrm>
            <a:off x="7543800" y="4775200"/>
            <a:ext cx="406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TW" altLang="en-US" sz="1600" b="1">
                <a:solidFill>
                  <a:srgbClr val="00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</a:rPr>
              <a:t>④ 寫入 </a:t>
            </a:r>
            <a:r>
              <a:rPr lang="en-US" altLang="zh-TW" sz="1600" b="1">
                <a:solidFill>
                  <a:srgbClr val="00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</a:rPr>
              <a:t>margin
WSNM=V_H−V_L
WSNM(BL_trip)=0</a:t>
            </a:r>
            <a:endParaRPr lang="zh-TW" altLang="en-US" sz="1600" b="1">
              <a:solidFill>
                <a:srgbClr val="000000"/>
              </a:solidFill>
              <a:latin typeface="Times New Roman" panose="02020603050405020304" pitchFamily="18" charset="0"/>
              <a:ea typeface="Microsoft JhengHei" panose="020B0604030504040204" pitchFamily="34" charset="-120"/>
            </a:endParaRP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478E7FC1-9469-4B84-4EFE-7234F24955DB}"/>
              </a:ext>
            </a:extLst>
          </p:cNvPr>
          <p:cNvSpPr txBox="1"/>
          <p:nvPr/>
        </p:nvSpPr>
        <p:spPr>
          <a:xfrm>
            <a:off x="444500" y="5969000"/>
            <a:ext cx="1136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zh-TW" altLang="en-US" sz="1300" b="1">
                <a:solidFill>
                  <a:srgbClr val="6666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圖形對照：①作用於整張圖；②寫入 </a:t>
            </a:r>
            <a:r>
              <a:rPr lang="en-US" altLang="zh-TW" sz="1300" b="1">
                <a:solidFill>
                  <a:srgbClr val="6666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VTC </a:t>
            </a:r>
            <a:r>
              <a:rPr lang="zh-TW" altLang="en-US" sz="1300" b="1">
                <a:solidFill>
                  <a:srgbClr val="6666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曲線組；③對角交點；④方形邊長為 </a:t>
            </a:r>
            <a:r>
              <a:rPr lang="en-US" altLang="zh-TW" sz="1300" b="1">
                <a:solidFill>
                  <a:srgbClr val="6666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WSNM</a:t>
            </a:r>
            <a:r>
              <a:rPr lang="zh-TW" altLang="en-US" sz="1300" b="1">
                <a:solidFill>
                  <a:srgbClr val="6666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，縮至 </a:t>
            </a:r>
            <a:r>
              <a:rPr lang="en-US" altLang="zh-TW" sz="1300" b="1">
                <a:solidFill>
                  <a:srgbClr val="6666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0 </a:t>
            </a:r>
            <a:r>
              <a:rPr lang="zh-TW" altLang="en-US" sz="1300" b="1">
                <a:solidFill>
                  <a:srgbClr val="6666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即 </a:t>
            </a:r>
            <a:r>
              <a:rPr lang="en-US" altLang="zh-TW" sz="1300" b="1">
                <a:solidFill>
                  <a:srgbClr val="6666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Write Trip</a:t>
            </a:r>
            <a:r>
              <a:rPr lang="zh-TW" altLang="en-US" sz="1300" b="1">
                <a:solidFill>
                  <a:srgbClr val="6666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。</a:t>
            </a:r>
          </a:p>
        </p:txBody>
      </p:sp>
      <p:cxnSp>
        <p:nvCxnSpPr>
          <p:cNvPr id="26" name="直線接點 25">
            <a:extLst>
              <a:ext uri="{FF2B5EF4-FFF2-40B4-BE49-F238E27FC236}">
                <a16:creationId xmlns:a16="http://schemas.microsoft.com/office/drawing/2014/main" id="{D4DEC03C-0B19-89F4-B7C6-907BBDF2D591}"/>
              </a:ext>
            </a:extLst>
          </p:cNvPr>
          <p:cNvCxnSpPr/>
          <p:nvPr/>
        </p:nvCxnSpPr>
        <p:spPr>
          <a:xfrm>
            <a:off x="381000" y="6438900"/>
            <a:ext cx="11430000" cy="0"/>
          </a:xfrm>
          <a:prstGeom prst="line">
            <a:avLst/>
          </a:prstGeom>
          <a:ln w="10160">
            <a:solidFill>
              <a:srgbClr val="B8BE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7E4885B8-41B1-F11B-98BC-2521D1FC7E40}"/>
              </a:ext>
            </a:extLst>
          </p:cNvPr>
          <p:cNvSpPr txBox="1"/>
          <p:nvPr/>
        </p:nvSpPr>
        <p:spPr>
          <a:xfrm>
            <a:off x="381000" y="6515100"/>
            <a:ext cx="508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TW" sz="800">
                <a:solidFill>
                  <a:srgbClr val="6666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HV28 SRAM Analysis · WAT-calibrated trend model</a:t>
            </a:r>
            <a:endParaRPr lang="zh-TW" altLang="en-US" sz="800">
              <a:solidFill>
                <a:srgbClr val="6666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7B96ABDC-72DE-377E-658E-3EC8F86127DF}"/>
              </a:ext>
            </a:extLst>
          </p:cNvPr>
          <p:cNvSpPr txBox="1"/>
          <p:nvPr/>
        </p:nvSpPr>
        <p:spPr>
          <a:xfrm>
            <a:off x="11430000" y="6515100"/>
            <a:ext cx="38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zh-TW" sz="800">
                <a:solidFill>
                  <a:srgbClr val="666666"/>
                </a:solidFill>
                <a:latin typeface="Arial" panose="020B0604020202020204" pitchFamily="34" charset="0"/>
                <a:ea typeface="Microsoft JhengHei" panose="020B0604030504040204" pitchFamily="34" charset="-120"/>
              </a:rPr>
              <a:t>5</a:t>
            </a:r>
            <a:endParaRPr lang="zh-TW" altLang="en-US" sz="800">
              <a:solidFill>
                <a:srgbClr val="666666"/>
              </a:solidFill>
              <a:latin typeface="Arial" panose="020B0604020202020204" pitchFamily="34" charset="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465876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637</Words>
  <Application>Microsoft Office PowerPoint</Application>
  <PresentationFormat>自訂</PresentationFormat>
  <Paragraphs>71</Paragraphs>
  <Slides>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11" baseType="lpstr">
      <vt:lpstr>Microsoft JhengHei</vt:lpstr>
      <vt:lpstr>Arial</vt:lpstr>
      <vt:lpstr>Calibri</vt:lpstr>
      <vt:lpstr>Calibri Light</vt:lpstr>
      <vt:lpstr>Times New Roman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HA109666@365mak.com</dc:creator>
  <cp:lastModifiedBy>HA109666@365mak.com</cp:lastModifiedBy>
  <cp:revision>1</cp:revision>
  <dcterms:created xsi:type="dcterms:W3CDTF">2026-08-03T16:36:33Z</dcterms:created>
  <dcterms:modified xsi:type="dcterms:W3CDTF">2026-08-03T16:36:33Z</dcterms:modified>
</cp:coreProperties>
</file>