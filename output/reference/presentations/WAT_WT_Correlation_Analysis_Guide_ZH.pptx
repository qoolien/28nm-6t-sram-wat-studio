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f7b9c463a549cb" /><Relationship Type="http://schemas.openxmlformats.org/officeDocument/2006/relationships/extended-properties" Target="/docProps/app.xml" Id="Rf11802fe6cb546fb" /><Relationship Type="http://schemas.openxmlformats.org/officeDocument/2006/relationships/officeDocument" Target="/ppt/presentation.xml" Id="R01df01c497c0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fff8bb55894164"/>
  </p:sldMasterIdLst>
  <p:notesMasterIdLst>
    <p:notesMasterId xmlns:r="http://schemas.openxmlformats.org/officeDocument/2006/relationships" r:id="R36cdfae924214030"/>
  </p:notesMasterIdLst>
  <p:sldIdLst>
    <p:sldId xmlns:r="http://schemas.openxmlformats.org/officeDocument/2006/relationships" id="256" r:id="Rcffa94eeffc3445b"/>
    <p:sldId xmlns:r="http://schemas.openxmlformats.org/officeDocument/2006/relationships" id="257" r:id="R7a497f959ffb4e36"/>
    <p:sldId xmlns:r="http://schemas.openxmlformats.org/officeDocument/2006/relationships" id="258" r:id="R98b99f28acfe42d7"/>
    <p:sldId xmlns:r="http://schemas.openxmlformats.org/officeDocument/2006/relationships" id="259" r:id="R1e8a4a5b023f47b4"/>
    <p:sldId xmlns:r="http://schemas.openxmlformats.org/officeDocument/2006/relationships" id="260" r:id="R31d00ec9ebae425e"/>
    <p:sldId xmlns:r="http://schemas.openxmlformats.org/officeDocument/2006/relationships" id="261" r:id="R9f74e7924e7e4f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625d2d4707462e" /><Relationship Type="http://schemas.openxmlformats.org/officeDocument/2006/relationships/slideMaster" Target="/ppt/slideMasters/slideMaster1.xml" Id="R27fff8bb55894164" /><Relationship Type="http://schemas.openxmlformats.org/officeDocument/2006/relationships/notesMaster" Target="/ppt/notesMasters/notesMaster1.xml" Id="R36cdfae924214030" /><Relationship Type="http://schemas.openxmlformats.org/officeDocument/2006/relationships/presProps" Target="/ppt/presProps.xml" Id="R36b6b95fae1241e5" /><Relationship Type="http://schemas.openxmlformats.org/officeDocument/2006/relationships/tableStyles" Target="/ppt/tableStyles.xml" Id="R1101d0150048415d" /><Relationship Type="http://schemas.openxmlformats.org/officeDocument/2006/relationships/slide" Target="/ppt/slides/slide1.xml" Id="Rcffa94eeffc3445b" /><Relationship Type="http://schemas.openxmlformats.org/officeDocument/2006/relationships/slide" Target="/ppt/slides/slide2.xml" Id="R7a497f959ffb4e36" /><Relationship Type="http://schemas.openxmlformats.org/officeDocument/2006/relationships/slide" Target="/ppt/slides/slide3.xml" Id="R98b99f28acfe42d7" /><Relationship Type="http://schemas.openxmlformats.org/officeDocument/2006/relationships/slide" Target="/ppt/slides/slide4.xml" Id="R1e8a4a5b023f47b4" /><Relationship Type="http://schemas.openxmlformats.org/officeDocument/2006/relationships/slide" Target="/ppt/slides/slide5.xml" Id="R31d00ec9ebae425e" /><Relationship Type="http://schemas.openxmlformats.org/officeDocument/2006/relationships/slide" Target="/ppt/slides/slide6.xml" Id="R9f74e7924e7e4f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95860cee644d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d306181c7448e0" /><Relationship Type="http://schemas.openxmlformats.org/officeDocument/2006/relationships/notesMaster" Target="/ppt/notesMasters/notesMaster1.xml" Id="Rcb33181819004f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7a44f873b4209" /><Relationship Type="http://schemas.openxmlformats.org/officeDocument/2006/relationships/notesMaster" Target="/ppt/notesMasters/notesMaster1.xml" Id="Rf70ebc40174144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62c4c5bcc744e7" /><Relationship Type="http://schemas.openxmlformats.org/officeDocument/2006/relationships/notesMaster" Target="/ppt/notesMasters/notesMaster1.xml" Id="Rc2a560cbb2fa4c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77799c9f4f4fb5" /><Relationship Type="http://schemas.openxmlformats.org/officeDocument/2006/relationships/notesMaster" Target="/ppt/notesMasters/notesMaster1.xml" Id="Rd2e35c3dd9484d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a250b20c47406e" /><Relationship Type="http://schemas.openxmlformats.org/officeDocument/2006/relationships/notesMaster" Target="/ppt/notesMasters/notesMaster1.xml" Id="R6c7f6511a35046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cd266c19894677" /><Relationship Type="http://schemas.openxmlformats.org/officeDocument/2006/relationships/notesMaster" Target="/ppt/notesMasters/notesMaster1.xml" Id="R702568fedc3b48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本頁使用模擬數據，未引用實際 WAT 或 WT 測試結果。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本頁相關係數為模擬值，僅示範建議的 heatmap 形式與符號方向。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ef4a1c7f54b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c540c669224266" /><Relationship Type="http://schemas.openxmlformats.org/officeDocument/2006/relationships/slideLayout" Target="/ppt/slideLayouts/slideLayout1.xml" Id="Ref09c61fea1e47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09c61fea1e47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bbc647b4b4c65" /><Relationship Type="http://schemas.openxmlformats.org/officeDocument/2006/relationships/notesSlide" Target="/ppt/notesSlides/notesSlide1.xml" Id="Rbef83b1d1dee49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eb8ba65f340cd" /><Relationship Type="http://schemas.openxmlformats.org/officeDocument/2006/relationships/notesSlide" Target="/ppt/notesSlides/notesSlide2.xml" Id="Rf12bd40a7f0c48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8a45c0dce41c3" /><Relationship Type="http://schemas.openxmlformats.org/officeDocument/2006/relationships/notesSlide" Target="/ppt/notesSlides/notesSlide3.xml" Id="R4d563d789d8943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2f13fc4e440ce" /><Relationship Type="http://schemas.openxmlformats.org/officeDocument/2006/relationships/chart" Target="/ppt/slides/charts/chart1.xml" Id="Rb18e2b659bef4772" /><Relationship Type="http://schemas.openxmlformats.org/officeDocument/2006/relationships/chart" Target="/ppt/slides/charts/chart2.xml" Id="Re8a24a8623944e78" /><Relationship Type="http://schemas.openxmlformats.org/officeDocument/2006/relationships/notesSlide" Target="/ppt/notesSlides/notesSlide4.xml" Id="R249570034d9547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a0d308e49427d" /><Relationship Type="http://schemas.openxmlformats.org/officeDocument/2006/relationships/notesSlide" Target="/ppt/notesSlides/notesSlide5.xml" Id="Re2b6f83442d640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996de73064c58" /><Relationship Type="http://schemas.openxmlformats.org/officeDocument/2006/relationships/notesSlide" Target="/ppt/notesSlides/notesSlide6.xml" Id="R563e51b2591543f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Select Read：依 CR 分組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7324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lineChart>
        <c:grouping val="standard"/>
        <c:ser>
          <c:idx val="0"/>
          <c:order val="0"/>
          <c:tx>
            <c:v>CR Q1（低）</c:v>
          </c:tx>
          <c:spPr>
            <a:ln xmlns:a="http://schemas.openxmlformats.org/drawingml/2006/main" w="28575">
              <a:solidFill>
                <a:srgbClr val="D9534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9534F"/>
              </a:solidFill>
            </c:spPr>
          </c:marker>
          <c:cat>
            <c:numLit>
              <c:formatCode>General</c:formatCode>
              <c:ptCount val="8"/>
              <c:pt idx="0">
                <c:v>0.56</c:v>
              </c:pt>
              <c:pt idx="1">
                <c:v>0.60</c:v>
              </c:pt>
              <c:pt idx="2">
                <c:v>0.65</c:v>
              </c:pt>
              <c:pt idx="3">
                <c:v>0.70</c:v>
              </c:pt>
              <c:pt idx="4">
                <c:v>0.80</c:v>
              </c:pt>
              <c:pt idx="5">
                <c:v>0.90</c:v>
              </c:pt>
              <c:pt idx="6">
                <c:v>1.00</c:v>
              </c:pt>
              <c:pt idx="7">
                <c:v>1.20</c:v>
              </c:pt>
            </c:numLit>
          </c:cat>
          <c:val>
            <c:numLit>
              <c:formatCode>0</c:formatCode>
              <c:ptCount val="8"/>
              <c:pt idx="0">
                <c:v>230</c:v>
              </c:pt>
              <c:pt idx="1">
                <c:v>120</c:v>
              </c:pt>
              <c:pt idx="2">
                <c:v>36</c:v>
              </c:pt>
              <c:pt idx="3">
                <c:v>8</c:v>
              </c:pt>
              <c:pt idx="4">
                <c:v>1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</c:ser>
        <c:ser>
          <c:idx val="1"/>
          <c:order val="1"/>
          <c:tx>
            <c:v>CR Q2–Q3</c:v>
          </c:tx>
          <c:spPr>
            <a:ln xmlns:a="http://schemas.openxmlformats.org/drawingml/2006/main" w="28575">
              <a:solidFill>
                <a:srgbClr val="F28E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28E2B"/>
              </a:solidFill>
            </c:spPr>
          </c:marker>
          <c:cat>
            <c:numLit>
              <c:formatCode>General</c:formatCode>
              <c:ptCount val="8"/>
              <c:pt idx="0">
                <c:v>0.56</c:v>
              </c:pt>
              <c:pt idx="1">
                <c:v>0.60</c:v>
              </c:pt>
              <c:pt idx="2">
                <c:v>0.65</c:v>
              </c:pt>
              <c:pt idx="3">
                <c:v>0.70</c:v>
              </c:pt>
              <c:pt idx="4">
                <c:v>0.80</c:v>
              </c:pt>
              <c:pt idx="5">
                <c:v>0.90</c:v>
              </c:pt>
              <c:pt idx="6">
                <c:v>1.00</c:v>
              </c:pt>
              <c:pt idx="7">
                <c:v>1.20</c:v>
              </c:pt>
            </c:numLit>
          </c:cat>
          <c:val>
            <c:numLit>
              <c:formatCode>0</c:formatCode>
              <c:ptCount val="8"/>
              <c:pt idx="0">
                <c:v>135</c:v>
              </c:pt>
              <c:pt idx="1">
                <c:v>45</c:v>
              </c:pt>
              <c:pt idx="2">
                <c:v>8</c:v>
              </c:pt>
              <c:pt idx="3">
                <c:v>1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</c:ser>
        <c:ser>
          <c:idx val="2"/>
          <c:order val="2"/>
          <c:tx>
            <c:v>CR Q4（高）</c:v>
          </c:tx>
          <c:spPr>
            <a:ln xmlns:a="http://schemas.openxmlformats.org/drawingml/2006/main" w="28575">
              <a:solidFill>
                <a:srgbClr val="168A8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68A83"/>
              </a:solidFill>
            </c:spPr>
          </c:marker>
          <c:cat>
            <c:numLit>
              <c:formatCode>General</c:formatCode>
              <c:ptCount val="8"/>
              <c:pt idx="0">
                <c:v>0.56</c:v>
              </c:pt>
              <c:pt idx="1">
                <c:v>0.60</c:v>
              </c:pt>
              <c:pt idx="2">
                <c:v>0.65</c:v>
              </c:pt>
              <c:pt idx="3">
                <c:v>0.70</c:v>
              </c:pt>
              <c:pt idx="4">
                <c:v>0.80</c:v>
              </c:pt>
              <c:pt idx="5">
                <c:v>0.90</c:v>
              </c:pt>
              <c:pt idx="6">
                <c:v>1.00</c:v>
              </c:pt>
              <c:pt idx="7">
                <c:v>1.20</c:v>
              </c:pt>
            </c:numLit>
          </c:cat>
          <c:val>
            <c:numLit>
              <c:formatCode>0</c:formatCode>
              <c:ptCount val="8"/>
              <c:pt idx="0">
                <c:v>45</c:v>
              </c:pt>
              <c:pt idx="1">
                <c:v>12</c:v>
              </c:pt>
              <c:pt idx="2">
                <c:v>2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JhengHei"/>
                    <a:ea typeface="Microsoft JhengHei"/>
                    <a:cs typeface="Microsoft JhengHei"/>
                  </a:rPr>
                  <a:t>WT VDD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5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JhengHei"/>
                    <a:ea typeface="Microsoft JhengHei"/>
                    <a:cs typeface="Microsoft JhengHei"/>
                  </a:rPr>
                  <a:t>Fail Bit Count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64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B6670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Select Write：依 PR 分組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7324D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lineChart>
        <c:grouping val="standard"/>
        <c:ser>
          <c:idx val="0"/>
          <c:order val="0"/>
          <c:tx>
            <c:v>PR Q1（低）</c:v>
          </c:tx>
          <c:spPr>
            <a:ln xmlns:a="http://schemas.openxmlformats.org/drawingml/2006/main" w="28575">
              <a:solidFill>
                <a:srgbClr val="D9534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9534F"/>
              </a:solidFill>
            </c:spPr>
          </c:marker>
          <c:cat>
            <c:numLit>
              <c:formatCode>General</c:formatCode>
              <c:ptCount val="8"/>
              <c:pt idx="0">
                <c:v>0.56</c:v>
              </c:pt>
              <c:pt idx="1">
                <c:v>0.60</c:v>
              </c:pt>
              <c:pt idx="2">
                <c:v>0.65</c:v>
              </c:pt>
              <c:pt idx="3">
                <c:v>0.70</c:v>
              </c:pt>
              <c:pt idx="4">
                <c:v>0.80</c:v>
              </c:pt>
              <c:pt idx="5">
                <c:v>0.90</c:v>
              </c:pt>
              <c:pt idx="6">
                <c:v>1.00</c:v>
              </c:pt>
              <c:pt idx="7">
                <c:v>1.20</c:v>
              </c:pt>
            </c:numLit>
          </c:cat>
          <c:val>
            <c:numLit>
              <c:formatCode>0</c:formatCode>
              <c:ptCount val="8"/>
              <c:pt idx="0">
                <c:v>256</c:v>
              </c:pt>
              <c:pt idx="1">
                <c:v>160</c:v>
              </c:pt>
              <c:pt idx="2">
                <c:v>60</c:v>
              </c:pt>
              <c:pt idx="3">
                <c:v>15</c:v>
              </c:pt>
              <c:pt idx="4">
                <c:v>3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</c:ser>
        <c:ser>
          <c:idx val="1"/>
          <c:order val="1"/>
          <c:tx>
            <c:v>PR Q2–Q3</c:v>
          </c:tx>
          <c:spPr>
            <a:ln xmlns:a="http://schemas.openxmlformats.org/drawingml/2006/main" w="28575">
              <a:solidFill>
                <a:srgbClr val="F28E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28E2B"/>
              </a:solidFill>
            </c:spPr>
          </c:marker>
          <c:cat>
            <c:numLit>
              <c:formatCode>General</c:formatCode>
              <c:ptCount val="8"/>
              <c:pt idx="0">
                <c:v>0.56</c:v>
              </c:pt>
              <c:pt idx="1">
                <c:v>0.60</c:v>
              </c:pt>
              <c:pt idx="2">
                <c:v>0.65</c:v>
              </c:pt>
              <c:pt idx="3">
                <c:v>0.70</c:v>
              </c:pt>
              <c:pt idx="4">
                <c:v>0.80</c:v>
              </c:pt>
              <c:pt idx="5">
                <c:v>0.90</c:v>
              </c:pt>
              <c:pt idx="6">
                <c:v>1.00</c:v>
              </c:pt>
              <c:pt idx="7">
                <c:v>1.20</c:v>
              </c:pt>
            </c:numLit>
          </c:cat>
          <c:val>
            <c:numLit>
              <c:formatCode>0</c:formatCode>
              <c:ptCount val="8"/>
              <c:pt idx="0">
                <c:v>150</c:v>
              </c:pt>
              <c:pt idx="1">
                <c:v>55</c:v>
              </c:pt>
              <c:pt idx="2">
                <c:v>12</c:v>
              </c:pt>
              <c:pt idx="3">
                <c:v>2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</c:ser>
        <c:ser>
          <c:idx val="2"/>
          <c:order val="2"/>
          <c:tx>
            <c:v>PR Q4（高）</c:v>
          </c:tx>
          <c:spPr>
            <a:ln xmlns:a="http://schemas.openxmlformats.org/drawingml/2006/main" w="28575">
              <a:solidFill>
                <a:srgbClr val="168A8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68A83"/>
              </a:solidFill>
            </c:spPr>
          </c:marker>
          <c:cat>
            <c:numLit>
              <c:formatCode>General</c:formatCode>
              <c:ptCount val="8"/>
              <c:pt idx="0">
                <c:v>0.56</c:v>
              </c:pt>
              <c:pt idx="1">
                <c:v>0.60</c:v>
              </c:pt>
              <c:pt idx="2">
                <c:v>0.65</c:v>
              </c:pt>
              <c:pt idx="3">
                <c:v>0.70</c:v>
              </c:pt>
              <c:pt idx="4">
                <c:v>0.80</c:v>
              </c:pt>
              <c:pt idx="5">
                <c:v>0.90</c:v>
              </c:pt>
              <c:pt idx="6">
                <c:v>1.00</c:v>
              </c:pt>
              <c:pt idx="7">
                <c:v>1.20</c:v>
              </c:pt>
            </c:numLit>
          </c:cat>
          <c:val>
            <c:numLit>
              <c:formatCode>0</c:formatCode>
              <c:ptCount val="8"/>
              <c:pt idx="0">
                <c:v>30</c:v>
              </c:pt>
              <c:pt idx="1">
                <c:v>8</c:v>
              </c:pt>
              <c:pt idx="2">
                <c:v>1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JhengHei"/>
                    <a:ea typeface="Microsoft JhengHei"/>
                    <a:cs typeface="Microsoft JhengHei"/>
                  </a:rPr>
                  <a:t>WT VDD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5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JhengHei"/>
                    <a:ea typeface="Microsoft JhengHei"/>
                    <a:cs typeface="Microsoft JhengHei"/>
                  </a:rPr>
                  <a:t>Fail Bit Count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64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B6670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949F6-7F8E-4389-906A-E4661D4B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WAT 與 WT Test 關聯性分析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EC411-EECA-46F1-AAD6-B7A2FABD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E73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E73BE"/>
                </a:solidFill>
                <a:latin typeface="Microsoft JhengHei"/>
                <a:ea typeface="Microsoft JhengHei"/>
                <a:cs typeface="Microsoft JhengHei"/>
              </a:rPr>
              <a:t>0.9 V PU / PG / PD WAT 對照 1.20–0.56 V WT Fail Bit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82E6F-44B9-430D-BE71-12E39903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目的：以製程驅動力指標解釋 Select Read、Select Write 與 Scan4N 的低電壓失效趨勢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01B65-BFAD-44D9-B343-D21E863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分析概念簡報｜模擬圖表僅供方法確認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F4CBD-2D2C-4743-BAB4-13549146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HV28 SRAM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045EC-85D8-41FE-B83D-B6B82333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31171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5BEC-78D9-416A-B1A9-D7EF8101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資料粒度與配對方式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7698D-6CB7-4C14-967B-58C52553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WAT 與 WT 必須在相同 Lot / Wafer / Die 或可追溯區域上配對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381250"/>
                <a:gridCol w="4000500"/>
                <a:gridCol w="287655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資料來源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建議粒度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主要欄位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分析用途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WAT @ 0.9 V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Lot / Wafer / Site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PU、PG、PD Vt / Idsat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製程驅動力指紋</a:t>
                      </a:r>
                    </a:p>
                  </a:txBody>
                  <a:tcPr marL="76200" marR="76200" marT="38100" marB="38100" anchor="ctr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Select Read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Die / 256 BLK / VDD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FBC、測試電壓、座標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 stability</a:t>
                      </a:r>
                    </a:p>
                  </a:txBody>
                  <a:tcPr marL="76200" marR="76200" marT="38100" marB="38100" anchor="ctr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Select Write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Die / 256 BLK / VDD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FBC、測試電壓、座標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Write ability</a:t>
                      </a:r>
                    </a:p>
                  </a:txBody>
                  <a:tcPr marL="76200" marR="76200" marT="38100" marB="38100" anchor="ctr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Scan4N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Die / 256 BLK / VDD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FBC、實際測試 sequence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混合敏感度，先獨立分析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E96AC-A775-400E-97DC-E807EFF7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53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534F"/>
                </a:solidFill>
                <a:latin typeface="Microsoft JhengHei"/>
                <a:ea typeface="Microsoft JhengHei"/>
                <a:cs typeface="Microsoft JhengHei"/>
              </a:rPr>
              <a:t>重要：256 BLK 是同一顆 chip 的重複觀察。若 WAT 只有 wafer level，統計上的獨立樣本數是 wafer 數，不是 block 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AE2CE-0FC3-4700-8E45-E672B9EB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避免把同一 wafer 的 256 BLK 當成 256 個獨立 WAT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9BA16-15CD-48E1-B336-1FB11A6C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94232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318E4-CB90-4D7B-8998-5271485F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WAT 指標與 WT Pattern 對應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F58E0-D85C-44AD-95D2-9BBF0EA6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0.9 V WAT 用於製程排序，不代表 MOS 在 0.56 V 的直接量測驅動力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AAEC5-FCDC-4809-B6CC-64F7ABDC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73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E73BE"/>
                </a:solidFill>
                <a:latin typeface="Microsoft JhengHei"/>
                <a:ea typeface="Microsoft JhengHei"/>
                <a:cs typeface="Microsoft JhengHei"/>
              </a:rPr>
              <a:t>β ∝ Idsat / (VWAT − Vt)²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1D4D2-8040-423A-99BB-28BD5625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A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8A83"/>
                </a:solidFill>
                <a:latin typeface="Microsoft JhengHei"/>
                <a:ea typeface="Microsoft JhengHei"/>
                <a:cs typeface="Microsoft JhengHei"/>
              </a:rPr>
              <a:t>CR = βPD / βPG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B8460-D331-4518-A7E9-83049950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8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28E2B"/>
                </a:solidFill>
                <a:latin typeface="Microsoft JhengHei"/>
                <a:ea typeface="Microsoft JhengHei"/>
                <a:cs typeface="Microsoft JhengHei"/>
              </a:rPr>
              <a:t>PR = βPG / βPU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953000" y="1333500"/>
          <a:ext xmlns:a="http://schemas.openxmlformats.org/drawingml/2006/main" cx="6629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619250"/>
                <a:gridCol w="1714500"/>
                <a:gridCol w="18669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WT Pattern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優先 WAT 指標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預期方向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解讀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Select Read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 高較佳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 對抗 PG / BL disturb</a:t>
                      </a:r>
                    </a:p>
                  </a:txBody>
                  <a:tcPr marL="76200" marR="76200" marT="38100" marB="38100" anchor="ctr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Select Write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 高較佳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PG 較容易壓制 PU</a:t>
                      </a:r>
                    </a:p>
                  </a:txBody>
                  <a:tcPr marL="76200" marR="76200" marT="38100" marB="38100" anchor="ctr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Scan4N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CR、PR 分開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 sequence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確認偏向 Read 或 Write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87069-6309-4472-B646-A76688D0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建議同時保留原始 Vt / Idsat、β 與比例。模型一次選一組特徵，避免高度共線性造成係數方向不穩定。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29658-B339-43D0-8D21-0404E847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CR 與 PR 是簡化的相對驅動力指標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AD28E-D28D-49B8-A7C5-157AFA30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402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6AEB2-8A52-4411-B6D0-873162D7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模擬的 FBC–VDD 趨勢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65261-A751-4523-BA32-F6CBB835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WAT 分位數可用來檢查低電壓失效是否依 CR / PR 呈現單調分離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089E5-B02E-4117-8352-D31AE825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953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9534F"/>
                </a:solidFill>
                <a:latin typeface="Microsoft JhengHei"/>
                <a:ea typeface="Microsoft JhengHei"/>
                <a:cs typeface="Microsoft JhengHei"/>
              </a:rPr>
              <a:t>模擬資料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5429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8e2b659bef4772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210300" y="1428750"/>
          <a:ext xmlns:a="http://schemas.openxmlformats.org/drawingml/2006/main" cx="5429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a24a8623944e7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89166-2E28-476D-A85D-1F8AA910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可比較指標：最低零失效 VDD、Fail onset、FBC slope、Fail AUC、P90 block Vmin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3B8A9-AC1D-45AF-935C-F0B6A15D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所有數值均為模擬，用於說明分析方式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04168-0999-4014-8C10-CFE2116C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700914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6B04A-3C14-4F95-A21E-5434AE50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分電壓相關性 Heatmap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C7117-FB7A-47A2-82DE-BC929695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先以 Spearman ρ 檢查單調關係，再判斷哪些 WAT 指標值得進入模型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CA6B8-04EA-42E2-B564-E4D5577E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953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9534F"/>
                </a:solidFill>
                <a:latin typeface="Microsoft JhengHei"/>
                <a:ea typeface="Microsoft JhengHei"/>
                <a:cs typeface="Microsoft JhengHei"/>
              </a:rPr>
              <a:t>模擬資料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76300" y="1543050"/>
          <a:ext xmlns:a="http://schemas.openxmlformats.org/drawingml/2006/main" cx="10439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038350"/>
                <a:gridCol w="2038350"/>
                <a:gridCol w="2038350"/>
                <a:gridCol w="203835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WAT 指標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Select Read Vmin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Select Write Vmin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Scan4N Vmin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Fail AUC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 = βPD / βPG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−0.72</a:t>
                      </a:r>
                    </a:p>
                  </a:txBody>
                  <a:tcPr marL="76200" marR="76200" marT="38100" marB="38100" anchor="ctr">
                    <a:solidFill>
                      <a:srgbClr val="1E73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−0.10</a:t>
                      </a:r>
                    </a:p>
                  </a:txBody>
                  <a:tcPr marL="76200" marR="762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−0.45</a:t>
                      </a:r>
                    </a:p>
                  </a:txBody>
                  <a:tcPr marL="76200" marR="76200" marT="38100" marB="38100" anchor="ctr">
                    <a:solidFill>
                      <a:srgbClr val="A9D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−0.58</a:t>
                      </a:r>
                    </a:p>
                  </a:txBody>
                  <a:tcPr marL="76200" marR="76200" marT="38100" marB="38100" anchor="ctr">
                    <a:solidFill>
                      <a:srgbClr val="A9D4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 = βPG / βPU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+0.08</a:t>
                      </a:r>
                    </a:p>
                  </a:txBody>
                  <a:tcPr marL="76200" marR="762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−0.76</a:t>
                      </a:r>
                    </a:p>
                  </a:txBody>
                  <a:tcPr marL="76200" marR="76200" marT="38100" marB="38100" anchor="ctr">
                    <a:solidFill>
                      <a:srgbClr val="1E73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−0.40</a:t>
                      </a:r>
                    </a:p>
                  </a:txBody>
                  <a:tcPr marL="76200" marR="76200" marT="38100" marB="38100" anchor="ctr">
                    <a:solidFill>
                      <a:srgbClr val="A9D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−0.62</a:t>
                      </a:r>
                    </a:p>
                  </a:txBody>
                  <a:tcPr marL="76200" marR="76200" marT="38100" marB="38100" anchor="ctr">
                    <a:solidFill>
                      <a:srgbClr val="1E73B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βPD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−0.55</a:t>
                      </a:r>
                    </a:p>
                  </a:txBody>
                  <a:tcPr marL="76200" marR="76200" marT="38100" marB="38100" anchor="ctr">
                    <a:solidFill>
                      <a:srgbClr val="A9D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+0.05</a:t>
                      </a:r>
                    </a:p>
                  </a:txBody>
                  <a:tcPr marL="76200" marR="762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−0.30</a:t>
                      </a:r>
                    </a:p>
                  </a:txBody>
                  <a:tcPr marL="76200" marR="762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−0.35</a:t>
                      </a:r>
                    </a:p>
                  </a:txBody>
                  <a:tcPr marL="76200" marR="76200" marT="38100" marB="38100" anchor="ctr">
                    <a:solidFill>
                      <a:srgbClr val="F3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βPG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+0.48</a:t>
                      </a:r>
                    </a:p>
                  </a:txBody>
                  <a:tcPr marL="76200" marR="76200" marT="38100" marB="38100" anchor="ctr">
                    <a:solidFill>
                      <a:srgbClr val="F6C5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−0.58</a:t>
                      </a:r>
                    </a:p>
                  </a:txBody>
                  <a:tcPr marL="76200" marR="76200" marT="38100" marB="38100" anchor="ctr">
                    <a:solidFill>
                      <a:srgbClr val="A9D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−0.10</a:t>
                      </a:r>
                    </a:p>
                  </a:txBody>
                  <a:tcPr marL="76200" marR="762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−0.28</a:t>
                      </a:r>
                    </a:p>
                  </a:txBody>
                  <a:tcPr marL="76200" marR="76200" marT="38100" marB="38100" anchor="ctr">
                    <a:solidFill>
                      <a:srgbClr val="F3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βPU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−0.05</a:t>
                      </a:r>
                    </a:p>
                  </a:txBody>
                  <a:tcPr marL="76200" marR="762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+0.46</a:t>
                      </a:r>
                    </a:p>
                  </a:txBody>
                  <a:tcPr marL="76200" marR="76200" marT="38100" marB="38100" anchor="ctr">
                    <a:solidFill>
                      <a:srgbClr val="F6C5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+0.22</a:t>
                      </a:r>
                    </a:p>
                  </a:txBody>
                  <a:tcPr marL="76200" marR="762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+0.31</a:t>
                      </a:r>
                    </a:p>
                  </a:txBody>
                  <a:tcPr marL="76200" marR="76200" marT="38100" marB="381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D454B-BC16-4C49-85C9-DA844F56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63746"/>
                </a:solidFill>
                <a:latin typeface="Microsoft JhengHei"/>
                <a:ea typeface="Microsoft JhengHei"/>
                <a:cs typeface="Microsoft JhengHei"/>
              </a:rPr>
              <a:t>負相關：WAT 指標提高時 Vmin / Fail AUC 降低，代表性能改善。正相關則表示失效指標升高。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593DD-D799-4913-A1E8-AA949D0A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判讀門檻建議：先看 |ρ| ≥ 0.4，再以 wafer / lot holdout 確認穩定性與顯著性。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8549C-AE21-4CBC-A75D-30F78EBE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Heatmap 數值為模擬，實際分析需分 pattern 與 VDD 計算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8CFA8-C5D6-4917-A678-75D57591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5422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111CB-A40E-4DCA-96B9-30BF7669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建議的分析流程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BC175-B88A-44B2-A64A-E09C600E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第一版聚焦可解釋、可驗證的 WAT 與 WT 關聯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107442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76750"/>
                <a:gridCol w="445770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主要輸出</a:t>
                      </a:r>
                    </a:p>
                  </a:txBody>
                  <a:tcPr marL="76200" marR="76200" marT="47625" marB="47625" anchor="ctr">
                    <a:solidFill>
                      <a:srgbClr val="1732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資料對齊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 Lot / Wafer / Die 或可追溯 site 配對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Join coverage、缺值率、重複鍵</a:t>
                      </a:r>
                    </a:p>
                  </a:txBody>
                  <a:tcPr marL="76200" marR="76200" marT="38100" marB="38100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WT 指標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由 256 BLK FBC–VDD 曲線計算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Vmin、Fail onset、slope、AUC、P90</a:t>
                      </a:r>
                    </a:p>
                  </a:txBody>
                  <a:tcPr marL="76200" marR="76200" marT="38100" marB="38100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初步關聯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 pattern 與 VDD 計算 Spearman ρ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Correlation heatmap、分位數趨勢圖</a:t>
                      </a:r>
                    </a:p>
                  </a:txBody>
                  <a:tcPr marL="76200" marR="76200" marT="38100" marB="38100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 統計模型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FBC 用負二項 / zero-inflated；Vmin 用區間模型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WAT 效應、VDD 交互作用</a:t>
                      </a:r>
                    </a:p>
                  </a:txBody>
                  <a:tcPr marL="76200" marR="76200" marT="38100" marB="38100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驗證</a:t>
                      </a:r>
                    </a:p>
                  </a:txBody>
                  <a:tcPr marL="76200" marR="76200" marT="381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整片 wafer 或整個 lot 留出驗證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37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預測誤差、方向一致性、跨批穩定性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F54A1-0660-4704-9F6E-BB794752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73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E73BE"/>
                </a:solidFill>
                <a:latin typeface="Microsoft JhengHei"/>
                <a:ea typeface="Microsoft JhengHei"/>
                <a:cs typeface="Microsoft JhengHei"/>
              </a:rPr>
              <a:t>第一版建議交付：CR / PR、P90 Vmin、Fail AUC、分電壓 Spearman heatmap。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DFB5A-C962-430B-A2E0-897AACBC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結論應表述為預測關聯，不直接宣稱 0.9 V WAT 等同低電壓 MOS 驅動力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A1782-E223-4E0A-999D-8AE2B423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B6670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12756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2026-09-08T07:43:14.3430000Z</dcterms:created>
  <dcterms:modified xsi:type="dcterms:W3CDTF">2026-09-08T07:43:14.3430000Z</dcterms:modified>
</coreProperties>
</file>